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8"/>
  </p:notesMasterIdLst>
  <p:sldIdLst>
    <p:sldId id="256" r:id="rId3"/>
    <p:sldId id="259" r:id="rId4"/>
    <p:sldId id="262" r:id="rId5"/>
    <p:sldId id="264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04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A38"/>
            </a:gs>
            <a:gs pos="100000">
              <a:srgbClr val="0F1A2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cover-accent-line"/>
          <p:cNvSpPr/>
          <p:nvPr/>
        </p:nvSpPr>
        <p:spPr>
          <a:xfrm>
            <a:off x="5143500" y="2095500"/>
            <a:ext cx="1905000" cy="38100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cover-title|s=$title"/>
          <p:cNvSpPr txBox="1"/>
          <p:nvPr/>
        </p:nvSpPr>
        <p:spPr>
          <a:xfrm>
            <a:off x="1333500" y="1262743"/>
            <a:ext cx="9525000" cy="1924594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</a:rPr>
              <a:t>Plataforma de </a:t>
            </a:r>
            <a:r>
              <a:rPr lang="en-US" sz="2400" b="1" dirty="0" err="1">
                <a:solidFill>
                  <a:schemeClr val="bg1"/>
                </a:solidFill>
              </a:rPr>
              <a:t>microaprendizaje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basada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en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inteligencia</a:t>
            </a:r>
            <a:r>
              <a:rPr lang="en-US" sz="2400" b="1" dirty="0">
                <a:solidFill>
                  <a:schemeClr val="bg1"/>
                </a:solidFill>
              </a:rPr>
              <a:t> artificial</a:t>
            </a:r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para la </a:t>
            </a:r>
            <a:r>
              <a:rPr lang="en-US" sz="2400" b="1" dirty="0" err="1">
                <a:solidFill>
                  <a:schemeClr val="bg1"/>
                </a:solidFill>
              </a:rPr>
              <a:t>generación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contenido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educativo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personalizado</a:t>
            </a:r>
            <a:r>
              <a:rPr lang="en-US" sz="2400" b="1" dirty="0">
                <a:solidFill>
                  <a:schemeClr val="bg1"/>
                </a:solidFill>
              </a:rPr>
              <a:t> y </a:t>
            </a:r>
            <a:r>
              <a:rPr lang="en-US" sz="2400" b="1" dirty="0" err="1">
                <a:solidFill>
                  <a:schemeClr val="bg1"/>
                </a:solidFill>
              </a:rPr>
              <a:t>evaluaciones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adaptativas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orientadas</a:t>
            </a:r>
            <a:r>
              <a:rPr lang="en-US" sz="2400" b="1" dirty="0">
                <a:solidFill>
                  <a:schemeClr val="bg1"/>
                </a:solidFill>
              </a:rPr>
              <a:t> al </a:t>
            </a:r>
            <a:r>
              <a:rPr lang="en-US" sz="2400" b="1" dirty="0" err="1">
                <a:solidFill>
                  <a:schemeClr val="bg1"/>
                </a:solidFill>
              </a:rPr>
              <a:t>seguimiento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progresivo</a:t>
            </a:r>
            <a:r>
              <a:rPr lang="en-US" sz="2400" b="1" dirty="0">
                <a:solidFill>
                  <a:schemeClr val="bg1"/>
                </a:solidFill>
              </a:rPr>
              <a:t> del </a:t>
            </a:r>
            <a:r>
              <a:rPr lang="en-US" sz="2400" b="1" dirty="0" err="1">
                <a:solidFill>
                  <a:schemeClr val="bg1"/>
                </a:solidFill>
              </a:rPr>
              <a:t>estudiante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a </a:t>
            </a:r>
            <a:r>
              <a:rPr lang="en-US" sz="2400" b="1" dirty="0" err="1">
                <a:solidFill>
                  <a:schemeClr val="bg1"/>
                </a:solidFill>
              </a:rPr>
              <a:t>partir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clases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universitarias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grabadas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en</a:t>
            </a:r>
            <a:r>
              <a:rPr lang="en-US" sz="2400" b="1" dirty="0">
                <a:solidFill>
                  <a:schemeClr val="bg1"/>
                </a:solidFill>
              </a:rPr>
              <a:t> Perú</a:t>
            </a:r>
            <a:r>
              <a:rPr lang="es-PE" sz="2400" dirty="0">
                <a:solidFill>
                  <a:schemeClr val="bg1"/>
                </a:solidFill>
              </a:rPr>
              <a:t>​</a:t>
            </a:r>
            <a:endParaRPr sz="6000" spc="150" noProof="1">
              <a:solidFill>
                <a:schemeClr val="bg1"/>
              </a:solidFill>
              <a:latin typeface="Liter"/>
              <a:ea typeface="Liter"/>
            </a:endParaRPr>
          </a:p>
        </p:txBody>
      </p:sp>
      <p:sp>
        <p:nvSpPr>
          <p:cNvPr id="5" name="dsl:cover-desc"/>
          <p:cNvSpPr txBox="1"/>
          <p:nvPr/>
        </p:nvSpPr>
        <p:spPr>
          <a:xfrm>
            <a:off x="2286000" y="3810000"/>
            <a:ext cx="7620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A88"/>
                </a:solidFill>
                <a:latin typeface="QuattrocentoSans"/>
                <a:ea typeface="QuattrocentoSans"/>
              </a:rPr>
              <a:t>Plataforma web que transforma grabaciones y apuntes de clases universitarias</a:t>
            </a:r>
          </a:p>
          <a:p>
            <a:pPr algn="ctr">
              <a:lnSpc>
                <a:spcPct val="160000"/>
              </a:lnSpc>
            </a:pPr>
            <a:r>
              <a:rPr sz="1350" noProof="1">
                <a:solidFill>
                  <a:srgbClr val="6B7A88"/>
                </a:solidFill>
                <a:latin typeface="QuattrocentoSans"/>
                <a:ea typeface="QuattrocentoSans"/>
              </a:rPr>
              <a:t>en material de estudio personalizado con evaluaciones adaptativas IRT 3PL</a:t>
            </a:r>
          </a:p>
        </p:txBody>
      </p:sp>
      <p:sp>
        <p:nvSpPr>
          <p:cNvPr id="6" name="dsl:cover-badge-green"/>
          <p:cNvSpPr/>
          <p:nvPr/>
        </p:nvSpPr>
        <p:spPr>
          <a:xfrm>
            <a:off x="4191000" y="4953000"/>
            <a:ext cx="1333500" cy="342900"/>
          </a:xfrm>
          <a:prstGeom prst="roundRect">
            <a:avLst>
              <a:gd name="adj" fmla="val 100000"/>
            </a:avLst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sl:cover-badge-green-text"/>
          <p:cNvSpPr txBox="1"/>
          <p:nvPr/>
        </p:nvSpPr>
        <p:spPr>
          <a:xfrm>
            <a:off x="4191000" y="4953000"/>
            <a:ext cx="1333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IRT 3PL</a:t>
            </a:r>
          </a:p>
        </p:txBody>
      </p:sp>
      <p:sp>
        <p:nvSpPr>
          <p:cNvPr id="8" name="dsl:cover-badge-blue"/>
          <p:cNvSpPr/>
          <p:nvPr/>
        </p:nvSpPr>
        <p:spPr>
          <a:xfrm>
            <a:off x="5715000" y="4953000"/>
            <a:ext cx="1333500" cy="342900"/>
          </a:xfrm>
          <a:prstGeom prst="roundRect">
            <a:avLst>
              <a:gd name="adj" fmla="val 100000"/>
            </a:avLst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sl:cover-badge-blue-text"/>
          <p:cNvSpPr txBox="1"/>
          <p:nvPr/>
        </p:nvSpPr>
        <p:spPr>
          <a:xfrm>
            <a:off x="5715000" y="4953000"/>
            <a:ext cx="1333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QuattrocentoSans"/>
              </a:rPr>
              <a:t>CAT Motor</a:t>
            </a:r>
          </a:p>
        </p:txBody>
      </p:sp>
      <p:sp>
        <p:nvSpPr>
          <p:cNvPr id="10" name="dsl:cover-badge-yellow"/>
          <p:cNvSpPr/>
          <p:nvPr/>
        </p:nvSpPr>
        <p:spPr>
          <a:xfrm>
            <a:off x="7239000" y="4953000"/>
            <a:ext cx="1333500" cy="342900"/>
          </a:xfrm>
          <a:prstGeom prst="roundRect">
            <a:avLst>
              <a:gd name="adj" fmla="val 10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sl:cover-badge-yellow-text"/>
          <p:cNvSpPr txBox="1"/>
          <p:nvPr/>
        </p:nvSpPr>
        <p:spPr>
          <a:xfrm>
            <a:off x="7239000" y="4953000"/>
            <a:ext cx="1333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4323F"/>
                </a:solidFill>
                <a:latin typeface="QuattrocentoSans"/>
                <a:ea typeface="QuattrocentoSans"/>
              </a:rPr>
              <a:t>Bloom L1-L6</a:t>
            </a:r>
          </a:p>
        </p:txBody>
      </p:sp>
      <p:sp>
        <p:nvSpPr>
          <p:cNvPr id="12" name="dsl:cover-footer"/>
          <p:cNvSpPr txBox="1"/>
          <p:nvPr/>
        </p:nvSpPr>
        <p:spPr>
          <a:xfrm>
            <a:off x="3238500" y="5905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6B7A88"/>
                </a:solidFill>
                <a:latin typeface="QuattrocentoSans"/>
                <a:ea typeface="QuattrocentoSans"/>
              </a:rPr>
              <a:t>Desarrollo de Aplicaciones — Objetivo 3 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prob-accent"/>
          <p:cNvSpPr/>
          <p:nvPr/>
        </p:nvSpPr>
        <p:spPr>
          <a:xfrm>
            <a:off x="571500" y="476250"/>
            <a:ext cx="38100" cy="266700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rob-title|s=$subtitle"/>
          <p:cNvSpPr txBox="1"/>
          <p:nvPr/>
        </p:nvSpPr>
        <p:spPr>
          <a:xfrm>
            <a:off x="762000" y="457200"/>
            <a:ext cx="85725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950" noProof="1">
                <a:solidFill>
                  <a:srgbClr val="24323F"/>
                </a:solidFill>
                <a:latin typeface="QuattrocentoSans"/>
                <a:ea typeface="QuattrocentoSans"/>
              </a:rPr>
              <a:t>El estudiante universitario peruano enfrenta un problema de retención</a:t>
            </a:r>
          </a:p>
        </p:txBody>
      </p:sp>
      <p:sp>
        <p:nvSpPr>
          <p:cNvPr id="4" name="dsl:prob-card-1"/>
          <p:cNvSpPr/>
          <p:nvPr/>
        </p:nvSpPr>
        <p:spPr>
          <a:xfrm>
            <a:off x="571500" y="1143000"/>
            <a:ext cx="3429000" cy="1905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7000" dist="38100">
              <a:srgbClr val="000000">
                <a:alpha val="6274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sl:prob-icon-1|i=fas:microphone" descr="tmpe532xvk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prob-head-1"/>
          <p:cNvSpPr txBox="1"/>
          <p:nvPr/>
        </p:nvSpPr>
        <p:spPr>
          <a:xfrm>
            <a:off x="762000" y="1762125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4323F"/>
                </a:solidFill>
                <a:latin typeface="QuattrocentoSans"/>
                <a:ea typeface="QuattrocentoSans"/>
              </a:rPr>
              <a:t>Grabaciones sin utilidad</a:t>
            </a:r>
          </a:p>
        </p:txBody>
      </p:sp>
      <p:sp>
        <p:nvSpPr>
          <p:cNvPr id="7" name="dsl:prob-body-1"/>
          <p:cNvSpPr txBox="1"/>
          <p:nvPr/>
        </p:nvSpPr>
        <p:spPr>
          <a:xfrm>
            <a:off x="762000" y="2095500"/>
            <a:ext cx="304800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2633"/>
                </a:solidFill>
                <a:latin typeface="QuattrocentoSans"/>
                <a:ea typeface="QuattrocentoSans"/>
              </a:rPr>
              <a:t>Los estudiantes graban clases pero no tienen herramientas para convertir ese audio en material de estudio accionable.</a:t>
            </a:r>
          </a:p>
        </p:txBody>
      </p:sp>
      <p:sp>
        <p:nvSpPr>
          <p:cNvPr id="8" name="dsl:prob-card-2"/>
          <p:cNvSpPr/>
          <p:nvPr/>
        </p:nvSpPr>
        <p:spPr>
          <a:xfrm>
            <a:off x="4381500" y="1143000"/>
            <a:ext cx="3429000" cy="1905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7000" dist="38100">
              <a:srgbClr val="000000">
                <a:alpha val="6274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dsl:prob-icon-2|i=fas:file-lines" descr="tmp46_4863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35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prob-head-2"/>
          <p:cNvSpPr txBox="1"/>
          <p:nvPr/>
        </p:nvSpPr>
        <p:spPr>
          <a:xfrm>
            <a:off x="4572000" y="1762125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4323F"/>
                </a:solidFill>
                <a:latin typeface="QuattrocentoSans"/>
                <a:ea typeface="QuattrocentoSans"/>
              </a:rPr>
              <a:t>Apuntes masivos, sin estructura</a:t>
            </a:r>
          </a:p>
        </p:txBody>
      </p:sp>
      <p:sp>
        <p:nvSpPr>
          <p:cNvPr id="11" name="dsl:prob-body-2"/>
          <p:cNvSpPr txBox="1"/>
          <p:nvPr/>
        </p:nvSpPr>
        <p:spPr>
          <a:xfrm>
            <a:off x="4572000" y="2095500"/>
            <a:ext cx="304800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2633"/>
                </a:solidFill>
                <a:latin typeface="QuattrocentoSans"/>
                <a:ea typeface="QuattrocentoSans"/>
              </a:rPr>
              <a:t>Textos largos que no se transforman en flashcards, quizzes ni resúmenes. El estudiante no sabe por dónde empezar.</a:t>
            </a:r>
          </a:p>
        </p:txBody>
      </p:sp>
      <p:sp>
        <p:nvSpPr>
          <p:cNvPr id="12" name="dsl:prob-card-3"/>
          <p:cNvSpPr/>
          <p:nvPr/>
        </p:nvSpPr>
        <p:spPr>
          <a:xfrm>
            <a:off x="8191500" y="1143000"/>
            <a:ext cx="3429000" cy="1905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7000" dist="38100">
              <a:srgbClr val="000000">
                <a:alpha val="6274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dsl:prob-icon-3|i=fas:chart-line" descr="tmpdb4ly7g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3335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prob-head-3"/>
          <p:cNvSpPr txBox="1"/>
          <p:nvPr/>
        </p:nvSpPr>
        <p:spPr>
          <a:xfrm>
            <a:off x="8382000" y="1762125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4323F"/>
                </a:solidFill>
                <a:latin typeface="QuattrocentoSans"/>
                <a:ea typeface="QuattrocentoSans"/>
              </a:rPr>
              <a:t>Sin seguimiento de progreso</a:t>
            </a:r>
          </a:p>
        </p:txBody>
      </p:sp>
      <p:sp>
        <p:nvSpPr>
          <p:cNvPr id="15" name="dsl:prob-body-3"/>
          <p:cNvSpPr txBox="1"/>
          <p:nvPr/>
        </p:nvSpPr>
        <p:spPr>
          <a:xfrm>
            <a:off x="8382000" y="2095500"/>
            <a:ext cx="304800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2633"/>
                </a:solidFill>
                <a:latin typeface="QuattrocentoSans"/>
                <a:ea typeface="QuattrocentoSans"/>
              </a:rPr>
              <a:t>No existe plataforma que genere contenido a partir de las clases propias del estudiante y mida su dominio real.</a:t>
            </a:r>
          </a:p>
        </p:txBody>
      </p:sp>
      <p:sp>
        <p:nvSpPr>
          <p:cNvPr id="16" name="dsl:prob-big-number|s=$bigNumber"/>
          <p:cNvSpPr txBox="1"/>
          <p:nvPr/>
        </p:nvSpPr>
        <p:spPr>
          <a:xfrm>
            <a:off x="571500" y="3429000"/>
            <a:ext cx="190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noProof="1">
                <a:solidFill>
                  <a:srgbClr val="58CC02"/>
                </a:solidFill>
                <a:latin typeface="Liter"/>
                <a:ea typeface="Liter"/>
              </a:rPr>
              <a:t>94%</a:t>
            </a:r>
          </a:p>
        </p:txBody>
      </p:sp>
      <p:sp>
        <p:nvSpPr>
          <p:cNvPr id="17" name="dsl:prob-big-label"/>
          <p:cNvSpPr txBox="1"/>
          <p:nvPr/>
        </p:nvSpPr>
        <p:spPr>
          <a:xfrm>
            <a:off x="571500" y="4238625"/>
            <a:ext cx="3810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B7A88"/>
                </a:solidFill>
                <a:latin typeface="QuattrocentoSans"/>
                <a:ea typeface="QuattrocentoSans"/>
              </a:rPr>
              <a:t>de profesionales L&amp;D favorece el microaprendizaje</a:t>
            </a:r>
          </a:p>
        </p:txBody>
      </p:sp>
      <p:sp>
        <p:nvSpPr>
          <p:cNvPr id="18" name="dsl:prob-solution-bar"/>
          <p:cNvSpPr/>
          <p:nvPr/>
        </p:nvSpPr>
        <p:spPr>
          <a:xfrm>
            <a:off x="571500" y="5048250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E8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dsl:prob-solution-icon|i=fas:lightbulb" descr="tmpa5tky5b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334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prob-solution-text"/>
          <p:cNvSpPr txBox="1"/>
          <p:nvPr/>
        </p:nvSpPr>
        <p:spPr>
          <a:xfrm>
            <a:off x="1381125" y="5191125"/>
            <a:ext cx="1000125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24323F"/>
                </a:solidFill>
                <a:latin typeface="QuattrocentoSans"/>
                <a:ea typeface="QuattrocentoSans"/>
              </a:rPr>
              <a:t>SIMA</a:t>
            </a:r>
            <a:r>
              <a:rPr sz="1350" noProof="1">
                <a:solidFill>
                  <a:srgbClr val="24323F"/>
                </a:solidFill>
                <a:latin typeface="QuattrocentoSans"/>
                <a:ea typeface="QuattrocentoSans"/>
              </a:rPr>
              <a:t> convierte audio/texto de clase en resúmenes, flashcards, quizzes adaptativos y recomendaciones personalizadas — calibrado con IRT 3PL y taxonomía Bloom.</a:t>
            </a:r>
          </a:p>
        </p:txBody>
      </p:sp>
      <p:sp>
        <p:nvSpPr>
          <p:cNvPr id="21" name="dsl:prob-footer-line"/>
          <p:cNvSpPr/>
          <p:nvPr/>
        </p:nvSpPr>
        <p:spPr>
          <a:xfrm>
            <a:off x="571500" y="6286500"/>
            <a:ext cx="381000" cy="28575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dat-accent"/>
          <p:cNvSpPr/>
          <p:nvPr/>
        </p:nvSpPr>
        <p:spPr>
          <a:xfrm>
            <a:off x="571500" y="476250"/>
            <a:ext cx="38100" cy="266700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dat-title|s=$subtitle"/>
          <p:cNvSpPr txBox="1"/>
          <p:nvPr/>
        </p:nvSpPr>
        <p:spPr>
          <a:xfrm>
            <a:off x="762000" y="457200"/>
            <a:ext cx="85725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950" noProof="1">
                <a:solidFill>
                  <a:srgbClr val="24323F"/>
                </a:solidFill>
                <a:latin typeface="QuattrocentoSans"/>
                <a:ea typeface="QuattrocentoSans"/>
              </a:rPr>
              <a:t>Modelo de datos relacional — 16 entidades principales</a:t>
            </a:r>
          </a:p>
        </p:txBody>
      </p:sp>
      <p:graphicFrame>
        <p:nvGraphicFramePr>
          <p:cNvPr id="4" name="dsl:dat-table"/>
          <p:cNvGraphicFramePr>
            <a:graphicFrameLocks noGrp="1"/>
          </p:cNvGraphicFramePr>
          <p:nvPr/>
        </p:nvGraphicFramePr>
        <p:xfrm>
          <a:off x="571500" y="952500"/>
          <a:ext cx="11049000" cy="5143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3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1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Entidad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24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Rol principal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24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</a:rPr>
                        <a:t>Campos clave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243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Course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Curso académico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name, academic_period, level, student_goal, main_topics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ClassSession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Clase procesada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title, media_file, status, duration, processing_log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Transcript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Transcripción completa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full_text, source, language, average_confidence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Flashcard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Repaso espaciado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question, answer, mastery_level, next_review_at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Quiz / Question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Evaluación adaptativa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irt_a, irt_b, irt_c, bloom_level, difficulty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StudentAnswer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Respuesta del estudiante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theta_before, theta_after, is_correct, answered_at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AdaptiveProfile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Perfil adaptativo por curso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theta, standard_error, weak_topics, strong_topics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Profile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Usuario y gamificación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plan, current_streak, total_xp, level = xp//100 + 1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CreditLedgerEntry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Sistema de créditos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action, amount, balance_after, metadata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 algn="ctr"/>
                      <a:r>
                        <a:rPr sz="1050" b="1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Recommendation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Recomendaciones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noProof="1">
                          <a:solidFill>
                            <a:srgbClr val="1A2633"/>
                          </a:solidFill>
                          <a:latin typeface="QuattrocentoSans"/>
                          <a:ea typeface="QuattrocentoSans"/>
                        </a:rPr>
                        <a:t>title, message, priority, status, due_at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0E8EF"/>
                      </a:solidFill>
                      <a:prstDash val="solid"/>
                    </a:lnL>
                    <a:lnR w="12700" cap="flat" cmpd="sng" algn="ctr">
                      <a:solidFill>
                        <a:srgbClr val="E0E8EF"/>
                      </a:solidFill>
                      <a:prstDash val="solid"/>
                    </a:lnR>
                    <a:lnT w="12700" cap="flat" cmpd="sng" algn="ctr">
                      <a:solidFill>
                        <a:srgbClr val="E0E8EF"/>
                      </a:solidFill>
                      <a:prstDash val="solid"/>
                    </a:lnT>
                    <a:lnB w="12700" cap="flat" cmpd="sng" algn="ctr">
                      <a:solidFill>
                        <a:srgbClr val="E0E8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dsl:dat-footer-line"/>
          <p:cNvSpPr/>
          <p:nvPr/>
        </p:nvSpPr>
        <p:spPr>
          <a:xfrm>
            <a:off x="571500" y="6286500"/>
            <a:ext cx="381000" cy="28575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pipe-accent"/>
          <p:cNvSpPr/>
          <p:nvPr/>
        </p:nvSpPr>
        <p:spPr>
          <a:xfrm>
            <a:off x="571500" y="476250"/>
            <a:ext cx="38100" cy="266700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pipe-title|s=$subtitle"/>
          <p:cNvSpPr txBox="1"/>
          <p:nvPr/>
        </p:nvSpPr>
        <p:spPr>
          <a:xfrm>
            <a:off x="762000" y="457200"/>
            <a:ext cx="857250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950" noProof="1">
                <a:solidFill>
                  <a:srgbClr val="24323F"/>
                </a:solidFill>
                <a:latin typeface="QuattrocentoSans"/>
                <a:ea typeface="QuattrocentoSans"/>
              </a:rPr>
              <a:t>Pipeline end-to-end: 11 etapas con trazabilidad completa</a:t>
            </a:r>
          </a:p>
        </p:txBody>
      </p:sp>
      <p:sp>
        <p:nvSpPr>
          <p:cNvPr id="4" name="dsl:pipe-line"/>
          <p:cNvSpPr/>
          <p:nvPr/>
        </p:nvSpPr>
        <p:spPr>
          <a:xfrm>
            <a:off x="571500" y="1905000"/>
            <a:ext cx="11049000" cy="38100"/>
          </a:xfrm>
          <a:prstGeom prst="rect">
            <a:avLst/>
          </a:prstGeom>
          <a:solidFill>
            <a:srgbClr val="E0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pipe-n1"/>
          <p:cNvSpPr/>
          <p:nvPr/>
        </p:nvSpPr>
        <p:spPr>
          <a:xfrm>
            <a:off x="571500" y="952500"/>
            <a:ext cx="342900" cy="342900"/>
          </a:xfrm>
          <a:prstGeom prst="ellipse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sl:pipe-n1-text"/>
          <p:cNvSpPr txBox="1"/>
          <p:nvPr/>
        </p:nvSpPr>
        <p:spPr>
          <a:xfrm>
            <a:off x="571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1</a:t>
            </a:r>
          </a:p>
        </p:txBody>
      </p:sp>
      <p:sp>
        <p:nvSpPr>
          <p:cNvPr id="7" name="dsl:pipe-n1-label"/>
          <p:cNvSpPr txBox="1"/>
          <p:nvPr/>
        </p:nvSpPr>
        <p:spPr>
          <a:xfrm>
            <a:off x="3810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Entrada audio/texto</a:t>
            </a:r>
          </a:p>
        </p:txBody>
      </p:sp>
      <p:sp>
        <p:nvSpPr>
          <p:cNvPr id="8" name="dsl:pipe-n2"/>
          <p:cNvSpPr/>
          <p:nvPr/>
        </p:nvSpPr>
        <p:spPr>
          <a:xfrm>
            <a:off x="1524000" y="952500"/>
            <a:ext cx="342900" cy="342900"/>
          </a:xfrm>
          <a:prstGeom prst="ellipse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sl:pipe-n2-text"/>
          <p:cNvSpPr txBox="1"/>
          <p:nvPr/>
        </p:nvSpPr>
        <p:spPr>
          <a:xfrm>
            <a:off x="15240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2</a:t>
            </a:r>
          </a:p>
        </p:txBody>
      </p:sp>
      <p:sp>
        <p:nvSpPr>
          <p:cNvPr id="10" name="dsl:pipe-n2-label"/>
          <p:cNvSpPr txBox="1"/>
          <p:nvPr/>
        </p:nvSpPr>
        <p:spPr>
          <a:xfrm>
            <a:off x="13335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Whisper transcripción</a:t>
            </a:r>
          </a:p>
        </p:txBody>
      </p:sp>
      <p:sp>
        <p:nvSpPr>
          <p:cNvPr id="11" name="dsl:pipe-n3"/>
          <p:cNvSpPr/>
          <p:nvPr/>
        </p:nvSpPr>
        <p:spPr>
          <a:xfrm>
            <a:off x="2476500" y="952500"/>
            <a:ext cx="342900" cy="342900"/>
          </a:xfrm>
          <a:prstGeom prst="ellipse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sl:pipe-n3-text"/>
          <p:cNvSpPr txBox="1"/>
          <p:nvPr/>
        </p:nvSpPr>
        <p:spPr>
          <a:xfrm>
            <a:off x="2476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3</a:t>
            </a:r>
          </a:p>
        </p:txBody>
      </p:sp>
      <p:sp>
        <p:nvSpPr>
          <p:cNvPr id="13" name="dsl:pipe-n3-label"/>
          <p:cNvSpPr txBox="1"/>
          <p:nvPr/>
        </p:nvSpPr>
        <p:spPr>
          <a:xfrm>
            <a:off x="22860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Generación MINI</a:t>
            </a:r>
          </a:p>
        </p:txBody>
      </p:sp>
      <p:sp>
        <p:nvSpPr>
          <p:cNvPr id="14" name="dsl:pipe-n4"/>
          <p:cNvSpPr/>
          <p:nvPr/>
        </p:nvSpPr>
        <p:spPr>
          <a:xfrm>
            <a:off x="3429000" y="952500"/>
            <a:ext cx="342900" cy="342900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sl:pipe-n4-text"/>
          <p:cNvSpPr txBox="1"/>
          <p:nvPr/>
        </p:nvSpPr>
        <p:spPr>
          <a:xfrm>
            <a:off x="34290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4323F"/>
                </a:solidFill>
                <a:latin typeface="Liter"/>
                <a:ea typeface="Liter"/>
              </a:rPr>
              <a:t>4</a:t>
            </a:r>
          </a:p>
        </p:txBody>
      </p:sp>
      <p:sp>
        <p:nvSpPr>
          <p:cNvPr id="16" name="dsl:pipe-n4-label"/>
          <p:cNvSpPr txBox="1"/>
          <p:nvPr/>
        </p:nvSpPr>
        <p:spPr>
          <a:xfrm>
            <a:off x="32385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Filtro incoherentes</a:t>
            </a:r>
          </a:p>
        </p:txBody>
      </p:sp>
      <p:sp>
        <p:nvSpPr>
          <p:cNvPr id="17" name="dsl:pipe-n5"/>
          <p:cNvSpPr/>
          <p:nvPr/>
        </p:nvSpPr>
        <p:spPr>
          <a:xfrm>
            <a:off x="4381500" y="952500"/>
            <a:ext cx="342900" cy="342900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sl:pipe-n5-text"/>
          <p:cNvSpPr txBox="1"/>
          <p:nvPr/>
        </p:nvSpPr>
        <p:spPr>
          <a:xfrm>
            <a:off x="4381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4323F"/>
                </a:solidFill>
                <a:latin typeface="Liter"/>
                <a:ea typeface="Liter"/>
              </a:rPr>
              <a:t>5</a:t>
            </a:r>
          </a:p>
        </p:txBody>
      </p:sp>
      <p:sp>
        <p:nvSpPr>
          <p:cNvPr id="19" name="dsl:pipe-n5-label"/>
          <p:cNvSpPr txBox="1"/>
          <p:nvPr/>
        </p:nvSpPr>
        <p:spPr>
          <a:xfrm>
            <a:off x="41910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Reparar incoherentes</a:t>
            </a:r>
          </a:p>
        </p:txBody>
      </p:sp>
      <p:sp>
        <p:nvSpPr>
          <p:cNvPr id="20" name="dsl:pipe-n6"/>
          <p:cNvSpPr/>
          <p:nvPr/>
        </p:nvSpPr>
        <p:spPr>
          <a:xfrm>
            <a:off x="5334000" y="952500"/>
            <a:ext cx="342900" cy="342900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sl:pipe-n6-text"/>
          <p:cNvSpPr txBox="1"/>
          <p:nvPr/>
        </p:nvSpPr>
        <p:spPr>
          <a:xfrm>
            <a:off x="53340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4323F"/>
                </a:solidFill>
                <a:latin typeface="Liter"/>
                <a:ea typeface="Liter"/>
              </a:rPr>
              <a:t>6</a:t>
            </a:r>
          </a:p>
        </p:txBody>
      </p:sp>
      <p:sp>
        <p:nvSpPr>
          <p:cNvPr id="22" name="dsl:pipe-n6-label"/>
          <p:cNvSpPr txBox="1"/>
          <p:nvPr/>
        </p:nvSpPr>
        <p:spPr>
          <a:xfrm>
            <a:off x="51435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Coherencia general</a:t>
            </a:r>
          </a:p>
        </p:txBody>
      </p:sp>
      <p:sp>
        <p:nvSpPr>
          <p:cNvPr id="23" name="dsl:pipe-n7"/>
          <p:cNvSpPr/>
          <p:nvPr/>
        </p:nvSpPr>
        <p:spPr>
          <a:xfrm>
            <a:off x="6286500" y="952500"/>
            <a:ext cx="342900" cy="34290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sl:pipe-n7-text"/>
          <p:cNvSpPr txBox="1"/>
          <p:nvPr/>
        </p:nvSpPr>
        <p:spPr>
          <a:xfrm>
            <a:off x="6286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7</a:t>
            </a:r>
          </a:p>
        </p:txBody>
      </p:sp>
      <p:sp>
        <p:nvSpPr>
          <p:cNvPr id="25" name="dsl:pipe-n7-label"/>
          <p:cNvSpPr txBox="1"/>
          <p:nvPr/>
        </p:nvSpPr>
        <p:spPr>
          <a:xfrm>
            <a:off x="60960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Contexto verificación</a:t>
            </a:r>
          </a:p>
        </p:txBody>
      </p:sp>
      <p:sp>
        <p:nvSpPr>
          <p:cNvPr id="26" name="dsl:pipe-n8"/>
          <p:cNvSpPr/>
          <p:nvPr/>
        </p:nvSpPr>
        <p:spPr>
          <a:xfrm>
            <a:off x="7239000" y="952500"/>
            <a:ext cx="342900" cy="34290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sl:pipe-n8-text"/>
          <p:cNvSpPr txBox="1"/>
          <p:nvPr/>
        </p:nvSpPr>
        <p:spPr>
          <a:xfrm>
            <a:off x="72390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8</a:t>
            </a:r>
          </a:p>
        </p:txBody>
      </p:sp>
      <p:sp>
        <p:nvSpPr>
          <p:cNvPr id="28" name="dsl:pipe-n8-label"/>
          <p:cNvSpPr txBox="1"/>
          <p:nvPr/>
        </p:nvSpPr>
        <p:spPr>
          <a:xfrm>
            <a:off x="70485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Verificación IA</a:t>
            </a:r>
          </a:p>
        </p:txBody>
      </p:sp>
      <p:sp>
        <p:nvSpPr>
          <p:cNvPr id="29" name="dsl:pipe-n9"/>
          <p:cNvSpPr/>
          <p:nvPr/>
        </p:nvSpPr>
        <p:spPr>
          <a:xfrm>
            <a:off x="8191500" y="952500"/>
            <a:ext cx="342900" cy="34290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sl:pipe-n9-text"/>
          <p:cNvSpPr txBox="1"/>
          <p:nvPr/>
        </p:nvSpPr>
        <p:spPr>
          <a:xfrm>
            <a:off x="8191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9</a:t>
            </a:r>
          </a:p>
        </p:txBody>
      </p:sp>
      <p:sp>
        <p:nvSpPr>
          <p:cNvPr id="31" name="dsl:pipe-n9-label"/>
          <p:cNvSpPr txBox="1"/>
          <p:nvPr/>
        </p:nvSpPr>
        <p:spPr>
          <a:xfrm>
            <a:off x="80010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Correcciones</a:t>
            </a:r>
          </a:p>
        </p:txBody>
      </p:sp>
      <p:sp>
        <p:nvSpPr>
          <p:cNvPr id="32" name="dsl:pipe-n10"/>
          <p:cNvSpPr/>
          <p:nvPr/>
        </p:nvSpPr>
        <p:spPr>
          <a:xfrm>
            <a:off x="9144000" y="952500"/>
            <a:ext cx="342900" cy="342900"/>
          </a:xfrm>
          <a:prstGeom prst="ellipse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sl:pipe-n10-text"/>
          <p:cNvSpPr txBox="1"/>
          <p:nvPr/>
        </p:nvSpPr>
        <p:spPr>
          <a:xfrm>
            <a:off x="91440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10</a:t>
            </a:r>
          </a:p>
        </p:txBody>
      </p:sp>
      <p:sp>
        <p:nvSpPr>
          <p:cNvPr id="34" name="dsl:pipe-n10-label"/>
          <p:cNvSpPr txBox="1"/>
          <p:nvPr/>
        </p:nvSpPr>
        <p:spPr>
          <a:xfrm>
            <a:off x="8953500" y="1381125"/>
            <a:ext cx="762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Relleno items</a:t>
            </a:r>
          </a:p>
        </p:txBody>
      </p:sp>
      <p:sp>
        <p:nvSpPr>
          <p:cNvPr id="35" name="dsl:pipe-n11"/>
          <p:cNvSpPr/>
          <p:nvPr/>
        </p:nvSpPr>
        <p:spPr>
          <a:xfrm>
            <a:off x="10096500" y="952500"/>
            <a:ext cx="342900" cy="342900"/>
          </a:xfrm>
          <a:prstGeom prst="ellipse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sl:pipe-n11-text"/>
          <p:cNvSpPr txBox="1"/>
          <p:nvPr/>
        </p:nvSpPr>
        <p:spPr>
          <a:xfrm>
            <a:off x="10096500" y="95250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Liter"/>
                <a:ea typeface="Liter"/>
              </a:rPr>
              <a:t>11</a:t>
            </a:r>
          </a:p>
        </p:txBody>
      </p:sp>
      <p:sp>
        <p:nvSpPr>
          <p:cNvPr id="37" name="dsl:pipe-n11-label"/>
          <p:cNvSpPr txBox="1"/>
          <p:nvPr/>
        </p:nvSpPr>
        <p:spPr>
          <a:xfrm>
            <a:off x="9906000" y="1381125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noProof="1">
                <a:solidFill>
                  <a:srgbClr val="1A2633"/>
                </a:solidFill>
                <a:latin typeface="QuattrocentoSans"/>
                <a:ea typeface="QuattrocentoSans"/>
              </a:rPr>
              <a:t>Validación final</a:t>
            </a:r>
          </a:p>
        </p:txBody>
      </p:sp>
      <p:sp>
        <p:nvSpPr>
          <p:cNvPr id="38" name="dsl:pipe-detail-card"/>
          <p:cNvSpPr/>
          <p:nvPr/>
        </p:nvSpPr>
        <p:spPr>
          <a:xfrm>
            <a:off x="727710" y="1923234"/>
            <a:ext cx="11049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38100">
              <a:srgbClr val="000000">
                <a:alpha val="6274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sl:pipe-detail-title"/>
          <p:cNvSpPr txBox="1"/>
          <p:nvPr/>
        </p:nvSpPr>
        <p:spPr>
          <a:xfrm>
            <a:off x="857250" y="21907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4323F"/>
                </a:solidFill>
                <a:latin typeface="QuattrocentoSans"/>
                <a:ea typeface="QuattrocentoSans"/>
              </a:rPr>
              <a:t>Detalle del pipeline (basado en código real)</a:t>
            </a:r>
          </a:p>
        </p:txBody>
      </p:sp>
      <p:sp>
        <p:nvSpPr>
          <p:cNvPr id="40" name="dsl:pipe-detail-left"/>
          <p:cNvSpPr txBox="1"/>
          <p:nvPr/>
        </p:nvSpPr>
        <p:spPr>
          <a:xfrm>
            <a:off x="857250" y="2571750"/>
            <a:ext cx="504825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58CC02"/>
                </a:solidFill>
                <a:latin typeface="QuattrocentoSans"/>
                <a:ea typeface="QuattrocentoSans"/>
              </a:rPr>
              <a:t>01-03</a:t>
            </a: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  </a:t>
            </a:r>
            <a:r>
              <a:rPr sz="1200" b="1" noProof="1">
                <a:solidFill>
                  <a:srgbClr val="1A2633"/>
                </a:solidFill>
                <a:latin typeface="QuattrocentoSans"/>
                <a:ea typeface="QuattrocentoSans"/>
              </a:rPr>
              <a:t>Ingesta y Generación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Audio → Whisper local → texto crudo. El texto se divide en chunks de ~2,000 palabras. Cada chunk se envía a Qwen3 30B (local) o Claude API con el prompt PROMPT.md. Output: formato MINI con cabecera IRT3PL.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200" b="1" noProof="1">
                <a:solidFill>
                  <a:srgbClr val="FFC800"/>
                </a:solidFill>
                <a:latin typeface="QuattrocentoSans"/>
                <a:ea typeface="QuattrocentoSans"/>
              </a:rPr>
              <a:t>04-06</a:t>
            </a: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  </a:t>
            </a:r>
            <a:r>
              <a:rPr sz="1200" b="1" noProof="1">
                <a:solidFill>
                  <a:srgbClr val="1A2633"/>
                </a:solidFill>
                <a:latin typeface="QuattrocentoSans"/>
                <a:ea typeface="QuattrocentoSans"/>
              </a:rPr>
              <a:t>Filtrado y Reparación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Filtro de incoherentes: detecta enunciados sin ? ni ____. 53 items generados → 22 incoherentes detectados. No se descartan: se reparan con prompt específico. Luego reparación de coherencia general con reescritura quirúrgica.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200" b="1" noProof="1">
                <a:solidFill>
                  <a:srgbClr val="1CB0F6"/>
                </a:solidFill>
                <a:latin typeface="QuattrocentoSans"/>
                <a:ea typeface="QuattrocentoSans"/>
              </a:rPr>
              <a:t>07-09</a:t>
            </a: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  </a:t>
            </a:r>
            <a:r>
              <a:rPr sz="1200" b="1" noProof="1">
                <a:solidFill>
                  <a:srgbClr val="1A2633"/>
                </a:solidFill>
                <a:latin typeface="QuattrocentoSans"/>
                <a:ea typeface="QuattrocentoSans"/>
              </a:rPr>
              <a:t>Verificación y Corrección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Búsqueda web vía ddgs + dataset EduQG local. El verificador revisa factualidad, plausibilidad de distractores, coherencia IRT/Bloom. Correcciones aplicadas línea por línea con fallback por nivel Bloom.</a:t>
            </a:r>
          </a:p>
        </p:txBody>
      </p:sp>
      <p:sp>
        <p:nvSpPr>
          <p:cNvPr id="41" name="dsl:pipe-detail-right"/>
          <p:cNvSpPr txBox="1"/>
          <p:nvPr/>
        </p:nvSpPr>
        <p:spPr>
          <a:xfrm>
            <a:off x="6191250" y="2571750"/>
            <a:ext cx="504825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58CC02"/>
                </a:solidFill>
                <a:latin typeface="QuattrocentoSans"/>
                <a:ea typeface="QuattrocentoSans"/>
              </a:rPr>
              <a:t>10-11</a:t>
            </a: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  </a:t>
            </a:r>
            <a:r>
              <a:rPr sz="1200" b="1" noProof="1">
                <a:solidFill>
                  <a:srgbClr val="1A2633"/>
                </a:solidFill>
                <a:latin typeface="QuattrocentoSans"/>
                <a:ea typeface="QuattrocentoSans"/>
              </a:rPr>
              <a:t>Relleno y Validación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Si el conteo es menor al 80% del objetivo, se generan items adicionales (máx 15 por llamada). Validación final: n= en cabecera debe coincidir con items reales. Estado final: CORRECTED. Traza JSON completa persistida.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200" b="1" noProof="1">
                <a:solidFill>
                  <a:srgbClr val="1A2633"/>
                </a:solidFill>
                <a:latin typeface="QuattrocentoSans"/>
                <a:ea typeface="QuattrocentoSans"/>
              </a:rPr>
              <a:t>Métricas reales de prueba: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Input: 4,439 palabras (historia del Perú)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Generados: 53 items en 2 chunks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Post-filtro: 22 incoherentes detectados, no descartados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Post-recuperación: ~50 items, 0 incoherentes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Errores detectados: 10 (fechas, causas, nombres)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2633"/>
                </a:solidFill>
                <a:latin typeface="QuattrocentoSans"/>
                <a:ea typeface="QuattrocentoSans"/>
              </a:rPr>
              <a:t>Correcciones aplicadas: 10 tras fix de IDs</a:t>
            </a:r>
          </a:p>
        </p:txBody>
      </p:sp>
      <p:sp>
        <p:nvSpPr>
          <p:cNvPr id="42" name="dsl:pipe-footer-line"/>
          <p:cNvSpPr/>
          <p:nvPr/>
        </p:nvSpPr>
        <p:spPr>
          <a:xfrm>
            <a:off x="571500" y="6286500"/>
            <a:ext cx="381000" cy="28575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A38"/>
            </a:gs>
            <a:gs pos="100000">
              <a:srgbClr val="0F1A2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sl:ch05-num-bg"/>
          <p:cNvSpPr/>
          <p:nvPr/>
        </p:nvSpPr>
        <p:spPr>
          <a:xfrm>
            <a:off x="571500" y="381000"/>
            <a:ext cx="1905000" cy="1905000"/>
          </a:xfrm>
          <a:prstGeom prst="ellipse">
            <a:avLst/>
          </a:prstGeom>
          <a:solidFill>
            <a:srgbClr val="24323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sl:ch05-num"/>
          <p:cNvSpPr txBox="1"/>
          <p:nvPr/>
        </p:nvSpPr>
        <p:spPr>
          <a:xfrm>
            <a:off x="571500" y="571500"/>
            <a:ext cx="1714500" cy="1524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endParaRPr sz="9000" noProof="1">
              <a:solidFill>
                <a:srgbClr val="FFFFFF">
                  <a:alpha val="18823"/>
                </a:srgbClr>
              </a:solidFill>
              <a:latin typeface="Liter"/>
              <a:ea typeface="Liter"/>
            </a:endParaRPr>
          </a:p>
        </p:txBody>
      </p:sp>
      <p:sp>
        <p:nvSpPr>
          <p:cNvPr id="4" name="dsl:ch05-accent"/>
          <p:cNvSpPr/>
          <p:nvPr/>
        </p:nvSpPr>
        <p:spPr>
          <a:xfrm>
            <a:off x="571500" y="2857500"/>
            <a:ext cx="762000" cy="38100"/>
          </a:xfrm>
          <a:prstGeom prst="rect">
            <a:avLst/>
          </a:prstGeom>
          <a:solidFill>
            <a:srgbClr val="58C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sl:ch05-title|s=$chapterTitle"/>
          <p:cNvSpPr txBox="1"/>
          <p:nvPr/>
        </p:nvSpPr>
        <p:spPr>
          <a:xfrm>
            <a:off x="571500" y="3048000"/>
            <a:ext cx="6667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lang="es-ES" sz="3000" spc="150" noProof="1">
                <a:solidFill>
                  <a:srgbClr val="FFFFFF"/>
                </a:solidFill>
                <a:latin typeface="Liter"/>
                <a:ea typeface="Liter"/>
              </a:rPr>
              <a:t>Deploy de desarrollo activo</a:t>
            </a:r>
            <a:endParaRPr sz="3000" spc="150" noProof="1">
              <a:solidFill>
                <a:srgbClr val="FFFFFF"/>
              </a:solidFill>
              <a:latin typeface="Liter"/>
              <a:ea typeface="Liter"/>
            </a:endParaRPr>
          </a:p>
        </p:txBody>
      </p:sp>
      <p:sp>
        <p:nvSpPr>
          <p:cNvPr id="6" name="dsl:ch05-desc"/>
          <p:cNvSpPr txBox="1"/>
          <p:nvPr/>
        </p:nvSpPr>
        <p:spPr>
          <a:xfrm>
            <a:off x="571500" y="3714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lang="es-PE" sz="1500" noProof="1">
                <a:solidFill>
                  <a:srgbClr val="6B7A88"/>
                </a:solidFill>
                <a:latin typeface="QuattrocentoSans"/>
                <a:ea typeface="QuattrocentoSans"/>
              </a:rPr>
              <a:t>http://bellamama.duckdns.org:25564/</a:t>
            </a:r>
            <a:endParaRPr sz="1500" noProof="1">
              <a:solidFill>
                <a:srgbClr val="6B7A88"/>
              </a:solidFill>
              <a:latin typeface="QuattrocentoSans"/>
              <a:ea typeface="Quattrocento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4323f"/>
    <Color name="secondary" value="#6b7a88"/>
    <Color name="accent" value="#58cc02"/>
    <Color name="info" value="#1cb0f6"/>
    <Color name="warning" value="#ffc800"/>
    <Color name="background" value="#f8fcff"/>
    <Color name="darkBg" value="#0f1a22"/>
    <Color name="text" value="#1a2633"/>
    <Color name="lightText" value="#ffffff"/>
    <Color name="cardBg" value="#ffffff"/>
    <Color name="cardDarkBg" value="#1a2a38"/>
    <Color name="border" value="#e0e8ef"/>
  </Colors>
  <TextStyles>
    <TextStyle name="title" font_size="56.0" color="$lightText" font_family="Liter" line_height="1.1" letter_spacing="2.0"/>
    <TextStyle name="chapterTitle" font_size="44.0" color="$lightText" font_family="Liter" line_height="1.2" letter_spacing="2.0"/>
    <TextStyle name="subtitle" font_size="28.0" color="$primary" font_family="QuattrocentoSans" line_height="1.3"/>
    <TextStyle name="heading" font_size="22.0" color="$primary" font_family="QuattrocentoSans" line_height="1.3"/>
    <TextStyle name="body" font_size="18.0" color="$text" font_family="QuattrocentoSans" line_height="1.6"/>
    <TextStyle name="caption" font_size="14.0" color="$secondary" font_family="QuattrocentoSans" line_height="1.4"/>
    <TextStyle name="bigNumber" font_size="56.0" color="$accent" font_family="Liter" line_height="1.0"/>
  </TextStyles>
  <TableStyles>
    <TableStyle name="default" fontSize="14.0" fontFamily="QuattrocentoSans" headerFill="$primary" headerColor="$lightText" headerBold="true" bodyFill="#f8fcff,#ffffff" bodyColor="$text" firstColumnBold="true">
      <Border style="solid" width="1.0" color="$border"/>
    </TableStyle>
  </TableStyles>
</DslMetadata>
</file>

<file path=customXml/itemProps1.xml><?xml version="1.0" encoding="utf-8"?>
<ds:datastoreItem xmlns:ds="http://schemas.openxmlformats.org/officeDocument/2006/customXml" ds:itemID="{2BA77A92-8017-46EB-AF28-40C82847A32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693</Words>
  <Application>Microsoft Office PowerPoint</Application>
  <PresentationFormat>Panorámica</PresentationFormat>
  <Paragraphs>101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Liter</vt:lpstr>
      <vt:lpstr>QuattrocentoSans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Palma</cp:lastModifiedBy>
  <cp:revision>3</cp:revision>
  <dcterms:created xsi:type="dcterms:W3CDTF">2013-01-27T09:14:16Z</dcterms:created>
  <dcterms:modified xsi:type="dcterms:W3CDTF">2026-06-26T21:13:15Z</dcterms:modified>
  <cp:category/>
</cp:coreProperties>
</file>