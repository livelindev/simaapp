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notesMasterIdLst>
    <p:notesMasterId r:id="rId8"/>
  </p:notesMaster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customXml" Target="../customXml/item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&lt;!--pageType:cover--&gt;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&lt;!--pageType:table_of_contents--&gt;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&lt;!--pageType:final--&gt;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accent-line"/>
          <p:cNvSpPr/>
          <p:nvPr/>
        </p:nvSpPr>
        <p:spPr>
          <a:xfrm>
            <a:off x="5143500" y="2286000"/>
            <a:ext cx="190500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title|s=$title"/>
          <p:cNvSpPr txBox="1"/>
          <p:nvPr/>
        </p:nvSpPr>
        <p:spPr>
          <a:xfrm>
            <a:off x="1333500" y="2476500"/>
            <a:ext cx="9525000" cy="1143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b="1" sz="3000" noProof="1">
                <a:solidFill>
                  <a:srgbClr val="FFFFFF"/>
                </a:solidFill>
                <a:latin typeface="QuattrocentoSans"/>
                <a:ea typeface="QuattrocentoSans"/>
              </a:rPr>
              <a:t>OE3 – Desarrollo e Implementación de SIMA</a:t>
            </a:r>
          </a:p>
        </p:txBody>
      </p:sp>
      <p:sp>
        <p:nvSpPr>
          <p:cNvPr id="4" name="dsl:subtitle|s=$subtitle"/>
          <p:cNvSpPr txBox="1"/>
          <p:nvPr/>
        </p:nvSpPr>
        <p:spPr>
          <a:xfrm>
            <a:off x="2286000" y="3714750"/>
            <a:ext cx="762000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500" noProof="1">
                <a:solidFill>
                  <a:srgbClr val="6B7B8C"/>
                </a:solidFill>
                <a:latin typeface="QuattrocentoSans"/>
                <a:ea typeface="QuattrocentoSans"/>
              </a:rPr>
              <a:t>Plataforma inteligente de microaprendizaje basada en inteligencia artificial</a:t>
            </a:r>
          </a:p>
          <a:p>
            <a:pPr algn="ctr">
              <a:lnSpc>
                <a:spcPct val="130000"/>
              </a:lnSpc>
            </a:pPr>
            <a:r>
              <a:rPr sz="1500" noProof="1">
                <a:solidFill>
                  <a:srgbClr val="6B7B8C"/>
                </a:solidFill>
                <a:latin typeface="QuattrocentoSans"/>
                <a:ea typeface="QuattrocentoSans"/>
              </a:rPr>
              <a:t>para la generación de contenido educativo personalizado y evaluaciones adaptativas</a:t>
            </a:r>
          </a:p>
        </p:txBody>
      </p:sp>
      <p:sp>
        <p:nvSpPr>
          <p:cNvPr id="5" name="dsl:authors"/>
          <p:cNvSpPr txBox="1"/>
          <p:nvPr/>
        </p:nvSpPr>
        <p:spPr>
          <a:xfrm>
            <a:off x="3238500" y="4762500"/>
            <a:ext cx="5715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350" noProof="1">
                <a:solidFill>
                  <a:srgbClr val="FFFFFF"/>
                </a:solidFill>
                <a:latin typeface="QuattrocentoSans"/>
                <a:ea typeface="QuattrocentoSans"/>
              </a:rPr>
              <a:t>Erick Joaquín Palomino Santa Cruz  |  Adrián Enrique Jesús Palma Obispo</a:t>
            </a:r>
          </a:p>
        </p:txBody>
      </p:sp>
      <p:sp>
        <p:nvSpPr>
          <p:cNvPr id="6" name="dsl:date"/>
          <p:cNvSpPr txBox="1"/>
          <p:nvPr/>
        </p:nvSpPr>
        <p:spPr>
          <a:xfrm>
            <a:off x="4191000" y="542925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200" noProof="1">
                <a:solidFill>
                  <a:srgbClr val="6B7B8C"/>
                </a:solidFill>
                <a:latin typeface="QuattrocentoSans"/>
                <a:ea typeface="QuattrocentoSans"/>
              </a:rPr>
              <a:t>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ar"/>
          <p:cNvSpPr/>
          <p:nvPr/>
        </p:nvSpPr>
        <p:spPr>
          <a:xfrm>
            <a:off x="0" y="0"/>
            <a:ext cx="12192000" cy="47625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agenda|s=$navText"/>
          <p:cNvSpPr txBox="1"/>
          <p:nvPr/>
        </p:nvSpPr>
        <p:spPr>
          <a:xfrm>
            <a:off x="0" y="0"/>
            <a:ext cx="12192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b="1" sz="1050" noProof="1">
                <a:solidFill>
                  <a:srgbClr val="FFFFFF"/>
                </a:solidFill>
                <a:latin typeface="QuattrocentoSans"/>
                <a:ea typeface="QuattrocentoSans"/>
              </a:rPr>
              <a:t>AGENDA</a:t>
            </a:r>
          </a:p>
        </p:txBody>
      </p:sp>
      <p:sp>
        <p:nvSpPr>
          <p:cNvPr id="4" name="dsl:left-label"/>
          <p:cNvSpPr txBox="1"/>
          <p:nvPr/>
        </p:nvSpPr>
        <p:spPr>
          <a:xfrm>
            <a:off x="571500" y="1143000"/>
            <a:ext cx="2857500" cy="4762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b="1" sz="6000" noProof="1">
                <a:solidFill>
                  <a:srgbClr val="0F2B46"/>
                </a:solidFill>
                <a:latin typeface="QuattrocentoSans"/>
                <a:ea typeface="QuattrocentoSans"/>
              </a:rPr>
              <a:t>A</a:t>
            </a:r>
          </a:p>
          <a:p>
            <a:pPr algn="l">
              <a:lnSpc>
                <a:spcPct val="90000"/>
              </a:lnSpc>
            </a:pPr>
            <a:r>
              <a:rPr b="1" sz="6000" noProof="1">
                <a:solidFill>
                  <a:srgbClr val="0F2B46"/>
                </a:solidFill>
                <a:latin typeface="QuattrocentoSans"/>
                <a:ea typeface="QuattrocentoSans"/>
              </a:rPr>
              <a:t>G</a:t>
            </a:r>
          </a:p>
          <a:p>
            <a:pPr algn="l">
              <a:lnSpc>
                <a:spcPct val="90000"/>
              </a:lnSpc>
            </a:pPr>
            <a:r>
              <a:rPr b="1" sz="6000" noProof="1">
                <a:solidFill>
                  <a:srgbClr val="0F2B46"/>
                </a:solidFill>
                <a:latin typeface="QuattrocentoSans"/>
                <a:ea typeface="QuattrocentoSans"/>
              </a:rPr>
              <a:t>E</a:t>
            </a:r>
          </a:p>
          <a:p>
            <a:pPr algn="l">
              <a:lnSpc>
                <a:spcPct val="90000"/>
              </a:lnSpc>
            </a:pPr>
            <a:r>
              <a:rPr b="1" sz="6000" noProof="1">
                <a:solidFill>
                  <a:srgbClr val="0F2B46"/>
                </a:solidFill>
                <a:latin typeface="QuattrocentoSans"/>
                <a:ea typeface="QuattrocentoSans"/>
              </a:rPr>
              <a:t>N</a:t>
            </a:r>
          </a:p>
          <a:p>
            <a:pPr algn="l">
              <a:lnSpc>
                <a:spcPct val="90000"/>
              </a:lnSpc>
            </a:pPr>
            <a:r>
              <a:rPr b="1" sz="6000" noProof="1">
                <a:solidFill>
                  <a:srgbClr val="0F2B46"/>
                </a:solidFill>
                <a:latin typeface="QuattrocentoSans"/>
                <a:ea typeface="QuattrocentoSans"/>
              </a:rPr>
              <a:t>D</a:t>
            </a:r>
          </a:p>
          <a:p>
            <a:pPr algn="l">
              <a:lnSpc>
                <a:spcPct val="90000"/>
              </a:lnSpc>
            </a:pPr>
            <a:r>
              <a:rPr b="1" sz="6000" noProof="1">
                <a:solidFill>
                  <a:srgbClr val="0F2B46"/>
                </a:solidFill>
                <a:latin typeface="QuattrocentoSans"/>
                <a:ea typeface="QuattrocentoSans"/>
              </a:rPr>
              <a:t>A</a:t>
            </a:r>
          </a:p>
        </p:txBody>
      </p:sp>
      <p:sp>
        <p:nvSpPr>
          <p:cNvPr id="5" name="dsl:accent-bar"/>
          <p:cNvSpPr/>
          <p:nvPr/>
        </p:nvSpPr>
        <p:spPr>
          <a:xfrm>
            <a:off x="3524250" y="1143000"/>
            <a:ext cx="38100" cy="47625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item1"/>
          <p:cNvSpPr txBox="1"/>
          <p:nvPr/>
        </p:nvSpPr>
        <p:spPr>
          <a:xfrm>
            <a:off x="3810000" y="1143000"/>
            <a:ext cx="7620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800" noProof="1">
                <a:solidFill>
                  <a:srgbClr val="0D9488"/>
                </a:solidFill>
                <a:latin typeface="QuattrocentoSans"/>
                <a:ea typeface="QuattrocentoSans"/>
              </a:rPr>
              <a:t>01</a:t>
            </a:r>
            <a:r>
              <a:rPr sz="1500" noProof="1">
                <a:solidFill>
                  <a:srgbClr val="1A1A2E"/>
                </a:solidFill>
                <a:latin typeface="QuattrocentoSans"/>
                <a:ea typeface="QuattrocentoSans"/>
              </a:rPr>
              <a:t>   Introducción al OE3</a:t>
            </a:r>
          </a:p>
        </p:txBody>
      </p:sp>
      <p:sp>
        <p:nvSpPr>
          <p:cNvPr id="7" name="dsl:item2"/>
          <p:cNvSpPr txBox="1"/>
          <p:nvPr/>
        </p:nvSpPr>
        <p:spPr>
          <a:xfrm>
            <a:off x="3810000" y="1762125"/>
            <a:ext cx="7620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800" noProof="1">
                <a:solidFill>
                  <a:srgbClr val="0D9488"/>
                </a:solidFill>
                <a:latin typeface="QuattrocentoSans"/>
                <a:ea typeface="QuattrocentoSans"/>
              </a:rPr>
              <a:t>02</a:t>
            </a:r>
            <a:r>
              <a:rPr sz="1500" noProof="1">
                <a:solidFill>
                  <a:srgbClr val="1A1A2E"/>
                </a:solidFill>
                <a:latin typeface="QuattrocentoSans"/>
                <a:ea typeface="QuattrocentoSans"/>
              </a:rPr>
              <a:t>   Stack Tecnológico</a:t>
            </a:r>
          </a:p>
        </p:txBody>
      </p:sp>
      <p:sp>
        <p:nvSpPr>
          <p:cNvPr id="8" name="dsl:item3"/>
          <p:cNvSpPr txBox="1"/>
          <p:nvPr/>
        </p:nvSpPr>
        <p:spPr>
          <a:xfrm>
            <a:off x="3810000" y="2381250"/>
            <a:ext cx="7620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800" noProof="1">
                <a:solidFill>
                  <a:srgbClr val="0D9488"/>
                </a:solidFill>
                <a:latin typeface="QuattrocentoSans"/>
                <a:ea typeface="QuattrocentoSans"/>
              </a:rPr>
              <a:t>03</a:t>
            </a:r>
            <a:r>
              <a:rPr sz="1500" noProof="1">
                <a:solidFill>
                  <a:srgbClr val="1A1A2E"/>
                </a:solidFill>
                <a:latin typeface="QuattrocentoSans"/>
                <a:ea typeface="QuattrocentoSans"/>
              </a:rPr>
              <a:t>   Product Backlog y User Stories</a:t>
            </a:r>
          </a:p>
        </p:txBody>
      </p:sp>
      <p:sp>
        <p:nvSpPr>
          <p:cNvPr id="9" name="dsl:item4"/>
          <p:cNvSpPr txBox="1"/>
          <p:nvPr/>
        </p:nvSpPr>
        <p:spPr>
          <a:xfrm>
            <a:off x="3810000" y="3000375"/>
            <a:ext cx="7620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800" noProof="1">
                <a:solidFill>
                  <a:srgbClr val="0D9488"/>
                </a:solidFill>
                <a:latin typeface="QuattrocentoSans"/>
                <a:ea typeface="QuattrocentoSans"/>
              </a:rPr>
              <a:t>04</a:t>
            </a:r>
            <a:r>
              <a:rPr sz="1500" noProof="1">
                <a:solidFill>
                  <a:srgbClr val="1A1A2E"/>
                </a:solidFill>
                <a:latin typeface="QuattrocentoSans"/>
                <a:ea typeface="QuattrocentoSans"/>
              </a:rPr>
              <a:t>   Pipeline de Desarrollo</a:t>
            </a:r>
          </a:p>
        </p:txBody>
      </p:sp>
      <p:sp>
        <p:nvSpPr>
          <p:cNvPr id="10" name="dsl:item5"/>
          <p:cNvSpPr txBox="1"/>
          <p:nvPr/>
        </p:nvSpPr>
        <p:spPr>
          <a:xfrm>
            <a:off x="3810000" y="3619500"/>
            <a:ext cx="7620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800" noProof="1">
                <a:solidFill>
                  <a:srgbClr val="0D9488"/>
                </a:solidFill>
                <a:latin typeface="QuattrocentoSans"/>
                <a:ea typeface="QuattrocentoSans"/>
              </a:rPr>
              <a:t>05</a:t>
            </a:r>
            <a:r>
              <a:rPr sz="1500" noProof="1">
                <a:solidFill>
                  <a:srgbClr val="1A1A2E"/>
                </a:solidFill>
                <a:latin typeface="QuattrocentoSans"/>
                <a:ea typeface="QuattrocentoSans"/>
              </a:rPr>
              <a:t>   Vistas del Sistema</a:t>
            </a:r>
          </a:p>
        </p:txBody>
      </p:sp>
      <p:sp>
        <p:nvSpPr>
          <p:cNvPr id="11" name="dsl:item6"/>
          <p:cNvSpPr txBox="1"/>
          <p:nvPr/>
        </p:nvSpPr>
        <p:spPr>
          <a:xfrm>
            <a:off x="3810000" y="4238625"/>
            <a:ext cx="7620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800" noProof="1">
                <a:solidFill>
                  <a:srgbClr val="0D9488"/>
                </a:solidFill>
                <a:latin typeface="QuattrocentoSans"/>
                <a:ea typeface="QuattrocentoSans"/>
              </a:rPr>
              <a:t>06</a:t>
            </a:r>
            <a:r>
              <a:rPr sz="1500" noProof="1">
                <a:solidFill>
                  <a:srgbClr val="1A1A2E"/>
                </a:solidFill>
                <a:latin typeface="QuattrocentoSans"/>
                <a:ea typeface="QuattrocentoSans"/>
              </a:rPr>
              <a:t>   Arquitectura y Evaluación Adaptativa</a:t>
            </a:r>
          </a:p>
        </p:txBody>
      </p:sp>
      <p:sp>
        <p:nvSpPr>
          <p:cNvPr id="12" name="dsl:item7"/>
          <p:cNvSpPr txBox="1"/>
          <p:nvPr/>
        </p:nvSpPr>
        <p:spPr>
          <a:xfrm>
            <a:off x="3810000" y="4857750"/>
            <a:ext cx="7620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800" noProof="1">
                <a:solidFill>
                  <a:srgbClr val="0D9488"/>
                </a:solidFill>
                <a:latin typeface="QuattrocentoSans"/>
                <a:ea typeface="QuattrocentoSans"/>
              </a:rPr>
              <a:t>07</a:t>
            </a:r>
            <a:r>
              <a:rPr sz="1500" noProof="1">
                <a:solidFill>
                  <a:srgbClr val="1A1A2E"/>
                </a:solidFill>
                <a:latin typeface="QuattrocentoSans"/>
                <a:ea typeface="QuattrocentoSans"/>
              </a:rPr>
              <a:t>   Futuro y Validación OE4</a:t>
            </a:r>
          </a:p>
        </p:txBody>
      </p:sp>
      <p:sp>
        <p:nvSpPr>
          <p:cNvPr id="13" name="dsl:item8"/>
          <p:cNvSpPr txBox="1"/>
          <p:nvPr/>
        </p:nvSpPr>
        <p:spPr>
          <a:xfrm>
            <a:off x="3810000" y="5476875"/>
            <a:ext cx="7620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800" noProof="1">
                <a:solidFill>
                  <a:srgbClr val="0D9488"/>
                </a:solidFill>
                <a:latin typeface="QuattrocentoSans"/>
                <a:ea typeface="QuattrocentoSans"/>
              </a:rPr>
              <a:t>08</a:t>
            </a:r>
            <a:r>
              <a:rPr sz="1500" noProof="1">
                <a:solidFill>
                  <a:srgbClr val="1A1A2E"/>
                </a:solidFill>
                <a:latin typeface="QuattrocentoSans"/>
                <a:ea typeface="QuattrocentoSans"/>
              </a:rPr>
              <a:t>   Conclusiones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ar"/>
          <p:cNvSpPr/>
          <p:nvPr/>
        </p:nvSpPr>
        <p:spPr>
          <a:xfrm>
            <a:off x="0" y="0"/>
            <a:ext cx="12192000" cy="47625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1|s=$navText"/>
          <p:cNvSpPr txBox="1"/>
          <p:nvPr/>
        </p:nvSpPr>
        <p:spPr>
          <a:xfrm>
            <a:off x="0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b="1" sz="1050" noProof="1">
                <a:solidFill>
                  <a:srgbClr val="FFFFFF"/>
                </a:solidFill>
                <a:latin typeface="QuattrocentoSans"/>
                <a:ea typeface="QuattrocentoSans"/>
              </a:rPr>
              <a:t>Intro</a:t>
            </a:r>
          </a:p>
        </p:txBody>
      </p:sp>
      <p:sp>
        <p:nvSpPr>
          <p:cNvPr id="4" name="dsl:nav2|s=$navText"/>
          <p:cNvSpPr txBox="1"/>
          <p:nvPr/>
        </p:nvSpPr>
        <p:spPr>
          <a:xfrm>
            <a:off x="2028825" y="0"/>
            <a:ext cx="203835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Stack</a:t>
            </a:r>
          </a:p>
        </p:txBody>
      </p:sp>
      <p:sp>
        <p:nvSpPr>
          <p:cNvPr id="5" name="dsl:nav3|s=$navText"/>
          <p:cNvSpPr txBox="1"/>
          <p:nvPr/>
        </p:nvSpPr>
        <p:spPr>
          <a:xfrm>
            <a:off x="4067175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Backlog</a:t>
            </a:r>
          </a:p>
        </p:txBody>
      </p:sp>
      <p:sp>
        <p:nvSpPr>
          <p:cNvPr id="6" name="dsl:nav4|s=$navText"/>
          <p:cNvSpPr txBox="1"/>
          <p:nvPr/>
        </p:nvSpPr>
        <p:spPr>
          <a:xfrm>
            <a:off x="6096000" y="0"/>
            <a:ext cx="203835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Pipeline</a:t>
            </a:r>
          </a:p>
        </p:txBody>
      </p:sp>
      <p:sp>
        <p:nvSpPr>
          <p:cNvPr id="7" name="dsl:nav5|s=$navText"/>
          <p:cNvSpPr txBox="1"/>
          <p:nvPr/>
        </p:nvSpPr>
        <p:spPr>
          <a:xfrm>
            <a:off x="8134350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Vistas</a:t>
            </a:r>
          </a:p>
        </p:txBody>
      </p:sp>
      <p:sp>
        <p:nvSpPr>
          <p:cNvPr id="8" name="dsl:nav6|s=$navText"/>
          <p:cNvSpPr txBox="1"/>
          <p:nvPr/>
        </p:nvSpPr>
        <p:spPr>
          <a:xfrm>
            <a:off x="10163175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Arquitectura</a:t>
            </a:r>
          </a:p>
        </p:txBody>
      </p:sp>
      <p:sp>
        <p:nvSpPr>
          <p:cNvPr id="9" name="dsl:nav-accent"/>
          <p:cNvSpPr/>
          <p:nvPr/>
        </p:nvSpPr>
        <p:spPr>
          <a:xfrm>
            <a:off x="0" y="476250"/>
            <a:ext cx="2028825" cy="1905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title|s=$heading"/>
          <p:cNvSpPr txBox="1"/>
          <p:nvPr/>
        </p:nvSpPr>
        <p:spPr>
          <a:xfrm>
            <a:off x="571500" y="619125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2100" noProof="1">
                <a:solidFill>
                  <a:srgbClr val="0F2B46"/>
                </a:solidFill>
                <a:latin typeface="QuattrocentoSans"/>
                <a:ea typeface="QuattrocentoSans"/>
              </a:rPr>
              <a:t>Objetivo Específico 3 – Desarrollo e Implementación</a:t>
            </a:r>
          </a:p>
        </p:txBody>
      </p:sp>
      <p:sp>
        <p:nvSpPr>
          <p:cNvPr id="11" name="dsl:title-line"/>
          <p:cNvSpPr/>
          <p:nvPr/>
        </p:nvSpPr>
        <p:spPr>
          <a:xfrm>
            <a:off x="571500" y="1047750"/>
            <a:ext cx="762000" cy="285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body-text|s=$body"/>
          <p:cNvSpPr txBox="1"/>
          <p:nvPr/>
        </p:nvSpPr>
        <p:spPr>
          <a:xfrm>
            <a:off x="571500" y="1238250"/>
            <a:ext cx="11049000" cy="381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350" noProof="1">
                <a:solidFill>
                  <a:srgbClr val="1A1A2E"/>
                </a:solidFill>
                <a:latin typeface="QuattrocentoSans"/>
                <a:ea typeface="QuattrocentoSans"/>
              </a:rPr>
              <a:t>Desarrollar una plataforma inteligente de microaprendizaje</a:t>
            </a:r>
            <a:r>
              <a:rPr sz="1350" noProof="1">
                <a:solidFill>
                  <a:srgbClr val="1A1A2E"/>
                </a:solidFill>
                <a:latin typeface="QuattrocentoSans"/>
                <a:ea typeface="QuattrocentoSans"/>
              </a:rPr>
              <a:t> que integre módulos de transcripción automática, postprocesamiento, generación de microcontenidos educativos y evaluaciones adaptativas personalizadas, orientadas al seguimiento del progreso del estudiante.</a:t>
            </a:r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sz="1350" noProof="1">
                <a:solidFill>
                  <a:srgbClr val="1A1A2E"/>
                </a:solidFill>
                <a:latin typeface="QuattrocentoSans"/>
                <a:ea typeface="QuattrocentoSans"/>
              </a:rPr>
              <a:t>El desarrollo se organizó como una </a:t>
            </a:r>
            <a:r>
              <a:rPr b="1" sz="1350" noProof="1">
                <a:solidFill>
                  <a:srgbClr val="1A1A2E"/>
                </a:solidFill>
                <a:latin typeface="QuattrocentoSans"/>
                <a:ea typeface="QuattrocentoSans"/>
              </a:rPr>
              <a:t>aplicación web Django</a:t>
            </a:r>
            <a:r>
              <a:rPr sz="1350" noProof="1">
                <a:solidFill>
                  <a:srgbClr val="1A1A2E"/>
                </a:solidFill>
                <a:latin typeface="QuattrocentoSans"/>
                <a:ea typeface="QuattrocentoSans"/>
              </a:rPr>
              <a:t> que transforma clases, textos o transcripciones en experiencias cortas de estudio. La implementación prioriza: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b="1" sz="1350" noProof="1">
                <a:solidFill>
                  <a:srgbClr val="1A1A2E"/>
                </a:solidFill>
                <a:latin typeface="QuattrocentoSans"/>
                <a:ea typeface="QuattrocentoSans"/>
              </a:rPr>
              <a:t>Ejecución local</a:t>
            </a:r>
            <a:r>
              <a:rPr sz="1350" noProof="1">
                <a:solidFill>
                  <a:srgbClr val="1A1A2E"/>
                </a:solidFill>
                <a:latin typeface="QuattrocentoSans"/>
                <a:ea typeface="QuattrocentoSans"/>
              </a:rPr>
              <a:t> de modelos de IA (Qwen3-30B vía proxy)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b="1" sz="1350" noProof="1">
                <a:solidFill>
                  <a:srgbClr val="1A1A2E"/>
                </a:solidFill>
                <a:latin typeface="QuattrocentoSans"/>
                <a:ea typeface="QuattrocentoSans"/>
              </a:rPr>
              <a:t>Trazabilidad técnica</a:t>
            </a:r>
            <a:r>
              <a:rPr sz="1350" noProof="1">
                <a:solidFill>
                  <a:srgbClr val="1A1A2E"/>
                </a:solidFill>
                <a:latin typeface="QuattrocentoSans"/>
                <a:ea typeface="QuattrocentoSans"/>
              </a:rPr>
              <a:t> del pipeline completo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b="1" sz="1350" noProof="1">
                <a:solidFill>
                  <a:srgbClr val="1A1A2E"/>
                </a:solidFill>
                <a:latin typeface="QuattrocentoSans"/>
                <a:ea typeface="QuattrocentoSans"/>
              </a:rPr>
              <a:t>Control de calidad educativo</a:t>
            </a:r>
            <a:r>
              <a:rPr sz="1350" noProof="1">
                <a:solidFill>
                  <a:srgbClr val="1A1A2E"/>
                </a:solidFill>
                <a:latin typeface="QuattrocentoSans"/>
                <a:ea typeface="QuattrocentoSans"/>
              </a:rPr>
              <a:t> con verificación web</a:t>
            </a:r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sz="1350" noProof="1">
                <a:solidFill>
                  <a:srgbClr val="1A1A2E"/>
                </a:solidFill>
                <a:latin typeface="QuattrocentoSans"/>
                <a:ea typeface="QuattrocentoSans"/>
              </a:rPr>
              <a:t>El OE3 documenta la construcción funcional: captura de contenido, reparación de transcripciones, generación MINI, verificación con fuentes, evaluación adaptativa y visualización del progreso.</a:t>
            </a:r>
          </a:p>
        </p:txBody>
      </p:sp>
      <p:sp>
        <p:nvSpPr>
          <p:cNvPr id="13" name="dsl:page-number|s=$caption"/>
          <p:cNvSpPr txBox="1"/>
          <p:nvPr/>
        </p:nvSpPr>
        <p:spPr>
          <a:xfrm>
            <a:off x="11430000" y="657225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30000"/>
              </a:lnSpc>
            </a:pPr>
            <a:r>
              <a:rPr sz="1050" noProof="1">
                <a:solidFill>
                  <a:srgbClr val="6B7B8C"/>
                </a:solidFill>
                <a:latin typeface="QuattrocentoSans"/>
                <a:ea typeface="Quattrocento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ar"/>
          <p:cNvSpPr/>
          <p:nvPr/>
        </p:nvSpPr>
        <p:spPr>
          <a:xfrm>
            <a:off x="0" y="0"/>
            <a:ext cx="12192000" cy="47625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1|s=$navText"/>
          <p:cNvSpPr txBox="1"/>
          <p:nvPr/>
        </p:nvSpPr>
        <p:spPr>
          <a:xfrm>
            <a:off x="0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Intro</a:t>
            </a:r>
          </a:p>
        </p:txBody>
      </p:sp>
      <p:sp>
        <p:nvSpPr>
          <p:cNvPr id="4" name="dsl:nav2|s=$navText"/>
          <p:cNvSpPr txBox="1"/>
          <p:nvPr/>
        </p:nvSpPr>
        <p:spPr>
          <a:xfrm>
            <a:off x="2028825" y="0"/>
            <a:ext cx="203835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b="1" sz="1050" noProof="1">
                <a:solidFill>
                  <a:srgbClr val="FFFFFF"/>
                </a:solidFill>
                <a:latin typeface="QuattrocentoSans"/>
                <a:ea typeface="QuattrocentoSans"/>
              </a:rPr>
              <a:t>Stack</a:t>
            </a:r>
          </a:p>
        </p:txBody>
      </p:sp>
      <p:sp>
        <p:nvSpPr>
          <p:cNvPr id="5" name="dsl:nav3|s=$navText"/>
          <p:cNvSpPr txBox="1"/>
          <p:nvPr/>
        </p:nvSpPr>
        <p:spPr>
          <a:xfrm>
            <a:off x="4067175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Backlog</a:t>
            </a:r>
          </a:p>
        </p:txBody>
      </p:sp>
      <p:sp>
        <p:nvSpPr>
          <p:cNvPr id="6" name="dsl:nav4|s=$navText"/>
          <p:cNvSpPr txBox="1"/>
          <p:nvPr/>
        </p:nvSpPr>
        <p:spPr>
          <a:xfrm>
            <a:off x="6096000" y="0"/>
            <a:ext cx="203835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Pipeline</a:t>
            </a:r>
          </a:p>
        </p:txBody>
      </p:sp>
      <p:sp>
        <p:nvSpPr>
          <p:cNvPr id="7" name="dsl:nav5|s=$navText"/>
          <p:cNvSpPr txBox="1"/>
          <p:nvPr/>
        </p:nvSpPr>
        <p:spPr>
          <a:xfrm>
            <a:off x="8134350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Vistas</a:t>
            </a:r>
          </a:p>
        </p:txBody>
      </p:sp>
      <p:sp>
        <p:nvSpPr>
          <p:cNvPr id="8" name="dsl:nav6|s=$navText"/>
          <p:cNvSpPr txBox="1"/>
          <p:nvPr/>
        </p:nvSpPr>
        <p:spPr>
          <a:xfrm>
            <a:off x="10163175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Arquitectura</a:t>
            </a:r>
          </a:p>
        </p:txBody>
      </p:sp>
      <p:sp>
        <p:nvSpPr>
          <p:cNvPr id="9" name="dsl:nav-accent"/>
          <p:cNvSpPr/>
          <p:nvPr/>
        </p:nvSpPr>
        <p:spPr>
          <a:xfrm>
            <a:off x="2028825" y="476250"/>
            <a:ext cx="2038350" cy="1905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title|s=$heading"/>
          <p:cNvSpPr txBox="1"/>
          <p:nvPr/>
        </p:nvSpPr>
        <p:spPr>
          <a:xfrm>
            <a:off x="571500" y="619125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2100" noProof="1">
                <a:solidFill>
                  <a:srgbClr val="0F2B46"/>
                </a:solidFill>
                <a:latin typeface="QuattrocentoSans"/>
                <a:ea typeface="QuattrocentoSans"/>
              </a:rPr>
              <a:t>Entorno Tecnológico y Stack de Desarrollo</a:t>
            </a:r>
          </a:p>
        </p:txBody>
      </p:sp>
      <p:sp>
        <p:nvSpPr>
          <p:cNvPr id="11" name="dsl:title-line"/>
          <p:cNvSpPr/>
          <p:nvPr/>
        </p:nvSpPr>
        <p:spPr>
          <a:xfrm>
            <a:off x="571500" y="1047750"/>
            <a:ext cx="762000" cy="285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dsl:stack-table"/>
          <p:cNvGraphicFramePr>
            <a:graphicFrameLocks noGrp="1"/>
          </p:cNvGraphicFramePr>
          <p:nvPr/>
        </p:nvGraphicFramePr>
        <p:xfrm>
          <a:off x="571500" y="1238250"/>
          <a:ext cx="11049000" cy="4572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209800"/>
                <a:gridCol w="2762250"/>
                <a:gridCol w="6076950"/>
              </a:tblGrid>
              <a:tr h="5715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QuattrocentoSans"/>
                          <a:ea typeface="QuattrocentoSans"/>
                        </a:rPr>
                        <a:t>Capa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QuattrocentoSans"/>
                          <a:ea typeface="QuattrocentoSans"/>
                        </a:rPr>
                        <a:t>Tecnología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QuattrocentoSans"/>
                          <a:ea typeface="QuattrocentoSans"/>
                        </a:rPr>
                        <a:t>Uso en SIMA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0F2B46"/>
                    </a:solidFill>
                  </a:tcPr>
                </a:tc>
              </a:tr>
              <a:tr h="5715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Aplicación web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Django 5.2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Vistas, modelos, formularios, autenticación, cola local y renderizado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IA local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Qwen3-30B OpenAI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Generación MINI, verificación y postprocesamiento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5715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Proxy IA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Node proxy :8003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Entrada protegida para /v1/chat/completions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Transcripción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Whisper local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Conversión de audio de clase a texto base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5715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Búsqueda web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ddgs + urllib/HTML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Fuentes y snippets para validación factual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Persistencia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PostgreSQL / SQLite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Clases, trazas, intentos de quiz y progreso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5715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Evaluación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IRT 3PL propio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Selección adaptativa y estimación theta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dsl:note|s=$caption"/>
          <p:cNvSpPr txBox="1"/>
          <p:nvPr/>
        </p:nvSpPr>
        <p:spPr>
          <a:xfrm>
            <a:off x="571500" y="5905500"/>
            <a:ext cx="11049000" cy="381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noProof="1">
                <a:solidFill>
                  <a:srgbClr val="6B7B8C"/>
                </a:solidFill>
                <a:latin typeface="QuattrocentoSans"/>
                <a:ea typeface="QuattrocentoSans"/>
              </a:rPr>
              <a:t>Nota: La configuración de IA apunta a http://127.0.0.1:8003/v1 para uso del proxy local. Si el acceso remoto se reactiva, la allowlist debe incluir la IP pública vigente.</a:t>
            </a:r>
          </a:p>
        </p:txBody>
      </p:sp>
      <p:sp>
        <p:nvSpPr>
          <p:cNvPr id="14" name="dsl:page-number|s=$caption"/>
          <p:cNvSpPr txBox="1"/>
          <p:nvPr/>
        </p:nvSpPr>
        <p:spPr>
          <a:xfrm>
            <a:off x="11430000" y="657225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30000"/>
              </a:lnSpc>
            </a:pPr>
            <a:r>
              <a:rPr sz="1050" noProof="1">
                <a:solidFill>
                  <a:srgbClr val="6B7B8C"/>
                </a:solidFill>
                <a:latin typeface="QuattrocentoSans"/>
                <a:ea typeface="Quattrocento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ar"/>
          <p:cNvSpPr/>
          <p:nvPr/>
        </p:nvSpPr>
        <p:spPr>
          <a:xfrm>
            <a:off x="0" y="0"/>
            <a:ext cx="12192000" cy="47625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1|s=$navText"/>
          <p:cNvSpPr txBox="1"/>
          <p:nvPr/>
        </p:nvSpPr>
        <p:spPr>
          <a:xfrm>
            <a:off x="0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Intro</a:t>
            </a:r>
          </a:p>
        </p:txBody>
      </p:sp>
      <p:sp>
        <p:nvSpPr>
          <p:cNvPr id="4" name="dsl:nav2|s=$navText"/>
          <p:cNvSpPr txBox="1"/>
          <p:nvPr/>
        </p:nvSpPr>
        <p:spPr>
          <a:xfrm>
            <a:off x="2028825" y="0"/>
            <a:ext cx="203835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Stack</a:t>
            </a:r>
          </a:p>
        </p:txBody>
      </p:sp>
      <p:sp>
        <p:nvSpPr>
          <p:cNvPr id="5" name="dsl:nav3|s=$navText"/>
          <p:cNvSpPr txBox="1"/>
          <p:nvPr/>
        </p:nvSpPr>
        <p:spPr>
          <a:xfrm>
            <a:off x="4067175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b="1" sz="1050" noProof="1">
                <a:solidFill>
                  <a:srgbClr val="FFFFFF"/>
                </a:solidFill>
                <a:latin typeface="QuattrocentoSans"/>
                <a:ea typeface="QuattrocentoSans"/>
              </a:rPr>
              <a:t>Backlog</a:t>
            </a:r>
          </a:p>
        </p:txBody>
      </p:sp>
      <p:sp>
        <p:nvSpPr>
          <p:cNvPr id="6" name="dsl:nav4|s=$navText"/>
          <p:cNvSpPr txBox="1"/>
          <p:nvPr/>
        </p:nvSpPr>
        <p:spPr>
          <a:xfrm>
            <a:off x="6096000" y="0"/>
            <a:ext cx="203835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Pipeline</a:t>
            </a:r>
          </a:p>
        </p:txBody>
      </p:sp>
      <p:sp>
        <p:nvSpPr>
          <p:cNvPr id="7" name="dsl:nav5|s=$navText"/>
          <p:cNvSpPr txBox="1"/>
          <p:nvPr/>
        </p:nvSpPr>
        <p:spPr>
          <a:xfrm>
            <a:off x="8134350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Vistas</a:t>
            </a:r>
          </a:p>
        </p:txBody>
      </p:sp>
      <p:sp>
        <p:nvSpPr>
          <p:cNvPr id="8" name="dsl:nav6|s=$navText"/>
          <p:cNvSpPr txBox="1"/>
          <p:nvPr/>
        </p:nvSpPr>
        <p:spPr>
          <a:xfrm>
            <a:off x="10163175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Arquitectura</a:t>
            </a:r>
          </a:p>
        </p:txBody>
      </p:sp>
      <p:sp>
        <p:nvSpPr>
          <p:cNvPr id="9" name="dsl:nav-accent"/>
          <p:cNvSpPr/>
          <p:nvPr/>
        </p:nvSpPr>
        <p:spPr>
          <a:xfrm>
            <a:off x="4067175" y="476250"/>
            <a:ext cx="2028825" cy="1905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title|s=$heading"/>
          <p:cNvSpPr txBox="1"/>
          <p:nvPr/>
        </p:nvSpPr>
        <p:spPr>
          <a:xfrm>
            <a:off x="571500" y="619125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2100" noProof="1">
                <a:solidFill>
                  <a:srgbClr val="0F2B46"/>
                </a:solidFill>
                <a:latin typeface="QuattrocentoSans"/>
                <a:ea typeface="QuattrocentoSans"/>
              </a:rPr>
              <a:t>Épicas del Product Backlog</a:t>
            </a:r>
          </a:p>
        </p:txBody>
      </p:sp>
      <p:sp>
        <p:nvSpPr>
          <p:cNvPr id="11" name="dsl:title-line"/>
          <p:cNvSpPr/>
          <p:nvPr/>
        </p:nvSpPr>
        <p:spPr>
          <a:xfrm>
            <a:off x="571500" y="1047750"/>
            <a:ext cx="762000" cy="285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dsl:epic-table"/>
          <p:cNvGraphicFramePr>
            <a:graphicFrameLocks noGrp="1"/>
          </p:cNvGraphicFramePr>
          <p:nvPr/>
        </p:nvGraphicFramePr>
        <p:xfrm>
          <a:off x="571500" y="1238250"/>
          <a:ext cx="11049000" cy="47625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4972050"/>
                <a:gridCol w="3867150"/>
                <a:gridCol w="2209800"/>
              </a:tblGrid>
              <a:tr h="7620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QuattrocentoSans"/>
                          <a:ea typeface="QuattrocentoSans"/>
                        </a:rPr>
                        <a:t>Épica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QuattrocentoSans"/>
                          <a:ea typeface="QuattrocentoSans"/>
                        </a:rPr>
                        <a:t>Story Points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QuattrocentoSans"/>
                          <a:ea typeface="QuattrocentoSans"/>
                        </a:rPr>
                        <a:t>Prioridad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0F2B46"/>
                    </a:solidFill>
                  </a:tcPr>
                </a:tc>
              </a:tr>
              <a:tr h="8001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Ingesta y transcripción inteligente de clases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13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Alta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Estructuración semántica de conocimiento con IA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21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Alta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8001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Validación pedagógica con verificación web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13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Alta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Persistencia y modelado de conocimiento educativo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8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Alta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8001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Generación de aprendizaje adaptativo y seguimiento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21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Alta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dsl:page-number|s=$caption"/>
          <p:cNvSpPr txBox="1"/>
          <p:nvPr/>
        </p:nvSpPr>
        <p:spPr>
          <a:xfrm>
            <a:off x="11430000" y="657225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30000"/>
              </a:lnSpc>
            </a:pPr>
            <a:r>
              <a:rPr sz="1050" noProof="1">
                <a:solidFill>
                  <a:srgbClr val="6B7B8C"/>
                </a:solidFill>
                <a:latin typeface="QuattrocentoSans"/>
                <a:ea typeface="Quattrocento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ar"/>
          <p:cNvSpPr/>
          <p:nvPr/>
        </p:nvSpPr>
        <p:spPr>
          <a:xfrm>
            <a:off x="0" y="0"/>
            <a:ext cx="12192000" cy="47625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1|s=$navText"/>
          <p:cNvSpPr txBox="1"/>
          <p:nvPr/>
        </p:nvSpPr>
        <p:spPr>
          <a:xfrm>
            <a:off x="0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Intro</a:t>
            </a:r>
          </a:p>
        </p:txBody>
      </p:sp>
      <p:sp>
        <p:nvSpPr>
          <p:cNvPr id="4" name="dsl:nav2|s=$navText"/>
          <p:cNvSpPr txBox="1"/>
          <p:nvPr/>
        </p:nvSpPr>
        <p:spPr>
          <a:xfrm>
            <a:off x="2028825" y="0"/>
            <a:ext cx="203835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Stack</a:t>
            </a:r>
          </a:p>
        </p:txBody>
      </p:sp>
      <p:sp>
        <p:nvSpPr>
          <p:cNvPr id="5" name="dsl:nav3|s=$navText"/>
          <p:cNvSpPr txBox="1"/>
          <p:nvPr/>
        </p:nvSpPr>
        <p:spPr>
          <a:xfrm>
            <a:off x="4067175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b="1" sz="1050" noProof="1">
                <a:solidFill>
                  <a:srgbClr val="FFFFFF"/>
                </a:solidFill>
                <a:latin typeface="QuattrocentoSans"/>
                <a:ea typeface="QuattrocentoSans"/>
              </a:rPr>
              <a:t>Backlog</a:t>
            </a:r>
          </a:p>
        </p:txBody>
      </p:sp>
      <p:sp>
        <p:nvSpPr>
          <p:cNvPr id="6" name="dsl:nav4|s=$navText"/>
          <p:cNvSpPr txBox="1"/>
          <p:nvPr/>
        </p:nvSpPr>
        <p:spPr>
          <a:xfrm>
            <a:off x="6096000" y="0"/>
            <a:ext cx="203835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Pipeline</a:t>
            </a:r>
          </a:p>
        </p:txBody>
      </p:sp>
      <p:sp>
        <p:nvSpPr>
          <p:cNvPr id="7" name="dsl:nav5|s=$navText"/>
          <p:cNvSpPr txBox="1"/>
          <p:nvPr/>
        </p:nvSpPr>
        <p:spPr>
          <a:xfrm>
            <a:off x="8134350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Vistas</a:t>
            </a:r>
          </a:p>
        </p:txBody>
      </p:sp>
      <p:sp>
        <p:nvSpPr>
          <p:cNvPr id="8" name="dsl:nav6|s=$navText"/>
          <p:cNvSpPr txBox="1"/>
          <p:nvPr/>
        </p:nvSpPr>
        <p:spPr>
          <a:xfrm>
            <a:off x="10163175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Arquitectura</a:t>
            </a:r>
          </a:p>
        </p:txBody>
      </p:sp>
      <p:sp>
        <p:nvSpPr>
          <p:cNvPr id="9" name="dsl:nav-accent"/>
          <p:cNvSpPr/>
          <p:nvPr/>
        </p:nvSpPr>
        <p:spPr>
          <a:xfrm>
            <a:off x="4067175" y="476250"/>
            <a:ext cx="2028825" cy="1905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title|s=$heading"/>
          <p:cNvSpPr txBox="1"/>
          <p:nvPr/>
        </p:nvSpPr>
        <p:spPr>
          <a:xfrm>
            <a:off x="571500" y="619125"/>
            <a:ext cx="9525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2100" noProof="1">
                <a:solidFill>
                  <a:srgbClr val="0F2B46"/>
                </a:solidFill>
                <a:latin typeface="QuattrocentoSans"/>
                <a:ea typeface="QuattrocentoSans"/>
              </a:rPr>
              <a:t>Historias de Usuario – Ingesta y Persistencia</a:t>
            </a:r>
          </a:p>
        </p:txBody>
      </p:sp>
      <p:sp>
        <p:nvSpPr>
          <p:cNvPr id="11" name="dsl:title-line"/>
          <p:cNvSpPr/>
          <p:nvPr/>
        </p:nvSpPr>
        <p:spPr>
          <a:xfrm>
            <a:off x="571500" y="1047750"/>
            <a:ext cx="762000" cy="285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dsl:hu-table"/>
          <p:cNvGraphicFramePr>
            <a:graphicFrameLocks noGrp="1"/>
          </p:cNvGraphicFramePr>
          <p:nvPr/>
        </p:nvGraphicFramePr>
        <p:xfrm>
          <a:off x="571500" y="1190625"/>
          <a:ext cx="11049000" cy="4953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762250"/>
                <a:gridCol w="4972050"/>
                <a:gridCol w="1657350"/>
                <a:gridCol w="1657350"/>
              </a:tblGrid>
              <a:tr h="4953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QuattrocentoSans"/>
                          <a:ea typeface="QuattrocentoSans"/>
                        </a:rPr>
                        <a:t>Historia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QuattrocentoSans"/>
                          <a:ea typeface="QuattrocentoSans"/>
                        </a:rPr>
                        <a:t>Criterios de Aceptación (BDD)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QuattrocentoSans"/>
                          <a:ea typeface="QuattrocentoSans"/>
                        </a:rPr>
                        <a:t>SP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QuattrocentoSans"/>
                          <a:ea typeface="QuattrocentoSans"/>
                        </a:rPr>
                        <a:t>Sprint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0F2B46"/>
                    </a:solidFill>
                  </a:tcPr>
                </a:tc>
              </a:tr>
              <a:tr h="14859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Como estudiante, quiero subir una clase y ver el pipeline de procesamiento en tiempo real para saber en qué fase se encuentra mi contenido.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Dado un archivo de clase en procesamiento, cuando accedo al panel de mi clase, entonces el sistema muestra cada etapa del pipeline con su estado (pendiente, en proceso, completado) y el porcentaje global.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3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1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859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Como estudiante, quiero ver el costo en créditos antes de confirmar el procesamiento para tomar decisiones informadas sobre mi saldo.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Dado un archivo seleccionado para subir, cuando inicio la carga, entonces el sistema muestra el costo estimado en créditos previo a la confirmación y el costo final consumido al completarse.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2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1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14859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Como estudiante, quiero agrupar mis clases en cursos y visualizar mi avance por curso para tener un seguimiento estructurado de mi aprendizaje.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Dado que tengo varias clases registradas, cuando accedo a la sección de cursos, entonces puedo crear un curso, asignarle clases y visualizar el progreso acumulado (clases completadas, puntuación promedio).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3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3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dsl:page-number|s=$caption"/>
          <p:cNvSpPr txBox="1"/>
          <p:nvPr/>
        </p:nvSpPr>
        <p:spPr>
          <a:xfrm>
            <a:off x="11430000" y="657225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30000"/>
              </a:lnSpc>
            </a:pPr>
            <a:r>
              <a:rPr sz="1050" noProof="1">
                <a:solidFill>
                  <a:srgbClr val="6B7B8C"/>
                </a:solidFill>
                <a:latin typeface="QuattrocentoSans"/>
                <a:ea typeface="Quattrocento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ar"/>
          <p:cNvSpPr/>
          <p:nvPr/>
        </p:nvSpPr>
        <p:spPr>
          <a:xfrm>
            <a:off x="0" y="0"/>
            <a:ext cx="12192000" cy="47625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1|s=$navText"/>
          <p:cNvSpPr txBox="1"/>
          <p:nvPr/>
        </p:nvSpPr>
        <p:spPr>
          <a:xfrm>
            <a:off x="0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Intro</a:t>
            </a:r>
          </a:p>
        </p:txBody>
      </p:sp>
      <p:sp>
        <p:nvSpPr>
          <p:cNvPr id="4" name="dsl:nav2|s=$navText"/>
          <p:cNvSpPr txBox="1"/>
          <p:nvPr/>
        </p:nvSpPr>
        <p:spPr>
          <a:xfrm>
            <a:off x="2028825" y="0"/>
            <a:ext cx="203835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Stack</a:t>
            </a:r>
          </a:p>
        </p:txBody>
      </p:sp>
      <p:sp>
        <p:nvSpPr>
          <p:cNvPr id="5" name="dsl:nav3|s=$navText"/>
          <p:cNvSpPr txBox="1"/>
          <p:nvPr/>
        </p:nvSpPr>
        <p:spPr>
          <a:xfrm>
            <a:off x="4067175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b="1" sz="1050" noProof="1">
                <a:solidFill>
                  <a:srgbClr val="FFFFFF"/>
                </a:solidFill>
                <a:latin typeface="QuattrocentoSans"/>
                <a:ea typeface="QuattrocentoSans"/>
              </a:rPr>
              <a:t>Backlog</a:t>
            </a:r>
          </a:p>
        </p:txBody>
      </p:sp>
      <p:sp>
        <p:nvSpPr>
          <p:cNvPr id="6" name="dsl:nav4|s=$navText"/>
          <p:cNvSpPr txBox="1"/>
          <p:nvPr/>
        </p:nvSpPr>
        <p:spPr>
          <a:xfrm>
            <a:off x="6096000" y="0"/>
            <a:ext cx="203835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Pipeline</a:t>
            </a:r>
          </a:p>
        </p:txBody>
      </p:sp>
      <p:sp>
        <p:nvSpPr>
          <p:cNvPr id="7" name="dsl:nav5|s=$navText"/>
          <p:cNvSpPr txBox="1"/>
          <p:nvPr/>
        </p:nvSpPr>
        <p:spPr>
          <a:xfrm>
            <a:off x="8134350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Vistas</a:t>
            </a:r>
          </a:p>
        </p:txBody>
      </p:sp>
      <p:sp>
        <p:nvSpPr>
          <p:cNvPr id="8" name="dsl:nav6|s=$navText"/>
          <p:cNvSpPr txBox="1"/>
          <p:nvPr/>
        </p:nvSpPr>
        <p:spPr>
          <a:xfrm>
            <a:off x="10163175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Arquitectura</a:t>
            </a:r>
          </a:p>
        </p:txBody>
      </p:sp>
      <p:sp>
        <p:nvSpPr>
          <p:cNvPr id="9" name="dsl:nav-accent"/>
          <p:cNvSpPr/>
          <p:nvPr/>
        </p:nvSpPr>
        <p:spPr>
          <a:xfrm>
            <a:off x="4067175" y="476250"/>
            <a:ext cx="2028825" cy="1905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title|s=$heading"/>
          <p:cNvSpPr txBox="1"/>
          <p:nvPr/>
        </p:nvSpPr>
        <p:spPr>
          <a:xfrm>
            <a:off x="571500" y="619125"/>
            <a:ext cx="9525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2100" noProof="1">
                <a:solidFill>
                  <a:srgbClr val="0F2B46"/>
                </a:solidFill>
                <a:latin typeface="QuattrocentoSans"/>
                <a:ea typeface="QuattrocentoSans"/>
              </a:rPr>
              <a:t>Historias de Usuario – Generación y Evaluación</a:t>
            </a:r>
          </a:p>
        </p:txBody>
      </p:sp>
      <p:sp>
        <p:nvSpPr>
          <p:cNvPr id="11" name="dsl:title-line"/>
          <p:cNvSpPr/>
          <p:nvPr/>
        </p:nvSpPr>
        <p:spPr>
          <a:xfrm>
            <a:off x="571500" y="1047750"/>
            <a:ext cx="762000" cy="285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dsl:hu-table"/>
          <p:cNvGraphicFramePr>
            <a:graphicFrameLocks noGrp="1"/>
          </p:cNvGraphicFramePr>
          <p:nvPr/>
        </p:nvGraphicFramePr>
        <p:xfrm>
          <a:off x="571500" y="1190625"/>
          <a:ext cx="11049000" cy="4953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762250"/>
                <a:gridCol w="4972050"/>
                <a:gridCol w="1657350"/>
                <a:gridCol w="1657350"/>
              </a:tblGrid>
              <a:tr h="4953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QuattrocentoSans"/>
                          <a:ea typeface="QuattrocentoSans"/>
                        </a:rPr>
                        <a:t>Historia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QuattrocentoSans"/>
                          <a:ea typeface="QuattrocentoSans"/>
                        </a:rPr>
                        <a:t>Criterios de Aceptación (BDD)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QuattrocentoSans"/>
                          <a:ea typeface="QuattrocentoSans"/>
                        </a:rPr>
                        <a:t>SP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QuattrocentoSans"/>
                          <a:ea typeface="QuattrocentoSans"/>
                        </a:rPr>
                        <a:t>Sprint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0F2B46"/>
                    </a:solidFill>
                  </a:tcPr>
                </a:tc>
              </a:tr>
              <a:tr h="14859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Como estudiante, quiero que el sistema genere automáticamente flashcards, quizzes y un mapa conceptual a partir de mi clase.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Dado una clase procesada, cuando accedo a la vista de la clase, entonces el sistema muestra flashcards, un quiz y un mapa conceptual generados desde el MINI parseado.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5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2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859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Como estudiante, quiero realizar el cuestionario múltiples veces con dificultad adaptativa mediante IRT.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Dado un cuestionario completado al menos una vez, cuando inicio una nueva sesión de práctica, entonces el sistema selecciona preguntas cuya dificultad IRT corresponda a mi nivel estimado y actualiza el modelo tras cada respuesta.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5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2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14859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Como estudiante, quiero recibir retroalimentación personalizada con mi nivel pedagógico y recomendaciones de estudio.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Dado que completé un quiz, cuando reviso mis resultados, entonces el sistema muestra mi nivel pedagógico (1-7), precisión, XP, racha y recomendaciones basadas en temas débiles.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3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A2E"/>
                          </a:solidFill>
                          <a:latin typeface="QuattrocentoSans"/>
                          <a:ea typeface="QuattrocentoSans"/>
                        </a:rPr>
                        <a:t>4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dsl:page-number|s=$caption"/>
          <p:cNvSpPr txBox="1"/>
          <p:nvPr/>
        </p:nvSpPr>
        <p:spPr>
          <a:xfrm>
            <a:off x="11430000" y="657225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30000"/>
              </a:lnSpc>
            </a:pPr>
            <a:r>
              <a:rPr sz="1050" noProof="1">
                <a:solidFill>
                  <a:srgbClr val="6B7B8C"/>
                </a:solidFill>
                <a:latin typeface="QuattrocentoSans"/>
                <a:ea typeface="Quattrocento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ar"/>
          <p:cNvSpPr/>
          <p:nvPr/>
        </p:nvSpPr>
        <p:spPr>
          <a:xfrm>
            <a:off x="0" y="0"/>
            <a:ext cx="12192000" cy="47625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1|s=$navText"/>
          <p:cNvSpPr txBox="1"/>
          <p:nvPr/>
        </p:nvSpPr>
        <p:spPr>
          <a:xfrm>
            <a:off x="0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Intro</a:t>
            </a:r>
          </a:p>
        </p:txBody>
      </p:sp>
      <p:sp>
        <p:nvSpPr>
          <p:cNvPr id="4" name="dsl:nav2|s=$navText"/>
          <p:cNvSpPr txBox="1"/>
          <p:nvPr/>
        </p:nvSpPr>
        <p:spPr>
          <a:xfrm>
            <a:off x="2028825" y="0"/>
            <a:ext cx="203835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Stack</a:t>
            </a:r>
          </a:p>
        </p:txBody>
      </p:sp>
      <p:sp>
        <p:nvSpPr>
          <p:cNvPr id="5" name="dsl:nav3|s=$navText"/>
          <p:cNvSpPr txBox="1"/>
          <p:nvPr/>
        </p:nvSpPr>
        <p:spPr>
          <a:xfrm>
            <a:off x="4067175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Backlog</a:t>
            </a:r>
          </a:p>
        </p:txBody>
      </p:sp>
      <p:sp>
        <p:nvSpPr>
          <p:cNvPr id="6" name="dsl:nav4|s=$navText"/>
          <p:cNvSpPr txBox="1"/>
          <p:nvPr/>
        </p:nvSpPr>
        <p:spPr>
          <a:xfrm>
            <a:off x="6096000" y="0"/>
            <a:ext cx="203835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b="1" sz="1050" noProof="1">
                <a:solidFill>
                  <a:srgbClr val="FFFFFF"/>
                </a:solidFill>
                <a:latin typeface="QuattrocentoSans"/>
                <a:ea typeface="QuattrocentoSans"/>
              </a:rPr>
              <a:t>Pipeline</a:t>
            </a:r>
          </a:p>
        </p:txBody>
      </p:sp>
      <p:sp>
        <p:nvSpPr>
          <p:cNvPr id="7" name="dsl:nav5|s=$navText"/>
          <p:cNvSpPr txBox="1"/>
          <p:nvPr/>
        </p:nvSpPr>
        <p:spPr>
          <a:xfrm>
            <a:off x="8134350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Vistas</a:t>
            </a:r>
          </a:p>
        </p:txBody>
      </p:sp>
      <p:sp>
        <p:nvSpPr>
          <p:cNvPr id="8" name="dsl:nav6|s=$navText"/>
          <p:cNvSpPr txBox="1"/>
          <p:nvPr/>
        </p:nvSpPr>
        <p:spPr>
          <a:xfrm>
            <a:off x="10163175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Arquitectura</a:t>
            </a:r>
          </a:p>
        </p:txBody>
      </p:sp>
      <p:sp>
        <p:nvSpPr>
          <p:cNvPr id="9" name="dsl:nav-accent"/>
          <p:cNvSpPr/>
          <p:nvPr/>
        </p:nvSpPr>
        <p:spPr>
          <a:xfrm>
            <a:off x="6096000" y="476250"/>
            <a:ext cx="2038350" cy="1905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title|s=$heading"/>
          <p:cNvSpPr txBox="1"/>
          <p:nvPr/>
        </p:nvSpPr>
        <p:spPr>
          <a:xfrm>
            <a:off x="571500" y="619125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2100" noProof="1">
                <a:solidFill>
                  <a:srgbClr val="0F2B46"/>
                </a:solidFill>
                <a:latin typeface="QuattrocentoSans"/>
                <a:ea typeface="QuattrocentoSans"/>
              </a:rPr>
              <a:t>Pipeline de Desarrollo Implementado</a:t>
            </a:r>
          </a:p>
        </p:txBody>
      </p:sp>
      <p:sp>
        <p:nvSpPr>
          <p:cNvPr id="11" name="dsl:title-line"/>
          <p:cNvSpPr/>
          <p:nvPr/>
        </p:nvSpPr>
        <p:spPr>
          <a:xfrm>
            <a:off x="571500" y="1047750"/>
            <a:ext cx="762000" cy="285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box1"/>
          <p:cNvSpPr/>
          <p:nvPr/>
        </p:nvSpPr>
        <p:spPr>
          <a:xfrm>
            <a:off x="571500" y="1333500"/>
            <a:ext cx="1905000" cy="666750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txt1"/>
          <p:cNvSpPr txBox="1"/>
          <p:nvPr/>
        </p:nvSpPr>
        <p:spPr>
          <a:xfrm>
            <a:off x="571500" y="1333500"/>
            <a:ext cx="1905000" cy="6667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1050" noProof="1">
                <a:solidFill>
                  <a:srgbClr val="FFFFFF"/>
                </a:solidFill>
                <a:latin typeface="QuattrocentoSans"/>
                <a:ea typeface="QuattrocentoSans"/>
              </a:rPr>
              <a:t>Preparación</a:t>
            </a:r>
          </a:p>
          <a:p>
            <a:pPr algn="ctr"/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Texto / audio</a:t>
            </a:r>
          </a:p>
        </p:txBody>
      </p:sp>
      <p:cxnSp>
        <p:nvCxnSpPr>
          <p:cNvPr id="14" name="dsl:arrow1"/>
          <p:cNvCxnSpPr/>
          <p:nvPr/>
        </p:nvCxnSpPr>
        <p:spPr>
          <a:xfrm>
            <a:off x="2476500" y="1666875"/>
            <a:ext cx="571500" cy="0"/>
          </a:xfrm>
          <a:prstGeom prst="straightConnector1">
            <a:avLst/>
          </a:prstGeom>
          <a:ln w="25400">
            <a:solidFill>
              <a:srgbClr val="0D9488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sl:box2"/>
          <p:cNvSpPr/>
          <p:nvPr/>
        </p:nvSpPr>
        <p:spPr>
          <a:xfrm>
            <a:off x="3048000" y="1333500"/>
            <a:ext cx="1905000" cy="666750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txt2"/>
          <p:cNvSpPr txBox="1"/>
          <p:nvPr/>
        </p:nvSpPr>
        <p:spPr>
          <a:xfrm>
            <a:off x="3048000" y="1333500"/>
            <a:ext cx="1905000" cy="6667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1050" noProof="1">
                <a:solidFill>
                  <a:srgbClr val="FFFFFF"/>
                </a:solidFill>
                <a:latin typeface="QuattrocentoSans"/>
                <a:ea typeface="QuattrocentoSans"/>
              </a:rPr>
              <a:t>Transcripción</a:t>
            </a:r>
          </a:p>
          <a:p>
            <a:pPr algn="ctr"/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Whisper local</a:t>
            </a:r>
          </a:p>
        </p:txBody>
      </p:sp>
      <p:cxnSp>
        <p:nvCxnSpPr>
          <p:cNvPr id="17" name="dsl:arrow2"/>
          <p:cNvCxnSpPr/>
          <p:nvPr/>
        </p:nvCxnSpPr>
        <p:spPr>
          <a:xfrm>
            <a:off x="4953000" y="1666875"/>
            <a:ext cx="571500" cy="0"/>
          </a:xfrm>
          <a:prstGeom prst="straightConnector1">
            <a:avLst/>
          </a:prstGeom>
          <a:ln w="25400">
            <a:solidFill>
              <a:srgbClr val="0D9488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sl:box3"/>
          <p:cNvSpPr/>
          <p:nvPr/>
        </p:nvSpPr>
        <p:spPr>
          <a:xfrm>
            <a:off x="5524500" y="1333500"/>
            <a:ext cx="1905000" cy="666750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txt3"/>
          <p:cNvSpPr txBox="1"/>
          <p:nvPr/>
        </p:nvSpPr>
        <p:spPr>
          <a:xfrm>
            <a:off x="5524500" y="1333500"/>
            <a:ext cx="1905000" cy="6667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1050" noProof="1">
                <a:solidFill>
                  <a:srgbClr val="FFFFFF"/>
                </a:solidFill>
                <a:latin typeface="QuattrocentoSans"/>
                <a:ea typeface="QuattrocentoSans"/>
              </a:rPr>
              <a:t>Generación</a:t>
            </a:r>
          </a:p>
          <a:p>
            <a:pPr algn="ctr"/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MINI inicial</a:t>
            </a:r>
          </a:p>
        </p:txBody>
      </p:sp>
      <p:cxnSp>
        <p:nvCxnSpPr>
          <p:cNvPr id="20" name="dsl:arrow3"/>
          <p:cNvCxnSpPr/>
          <p:nvPr/>
        </p:nvCxnSpPr>
        <p:spPr>
          <a:xfrm>
            <a:off x="7429500" y="1666875"/>
            <a:ext cx="571500" cy="0"/>
          </a:xfrm>
          <a:prstGeom prst="straightConnector1">
            <a:avLst/>
          </a:prstGeom>
          <a:ln w="25400">
            <a:solidFill>
              <a:srgbClr val="0D9488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sl:box4"/>
          <p:cNvSpPr/>
          <p:nvPr/>
        </p:nvSpPr>
        <p:spPr>
          <a:xfrm>
            <a:off x="8001000" y="1333500"/>
            <a:ext cx="1905000" cy="666750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l:txt4"/>
          <p:cNvSpPr txBox="1"/>
          <p:nvPr/>
        </p:nvSpPr>
        <p:spPr>
          <a:xfrm>
            <a:off x="8001000" y="1333500"/>
            <a:ext cx="1905000" cy="6667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1050" noProof="1">
                <a:solidFill>
                  <a:srgbClr val="FFFFFF"/>
                </a:solidFill>
                <a:latin typeface="QuattrocentoSans"/>
                <a:ea typeface="QuattrocentoSans"/>
              </a:rPr>
              <a:t>Coherencia</a:t>
            </a:r>
          </a:p>
          <a:p>
            <a:pPr algn="ctr"/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MINI revisado</a:t>
            </a:r>
          </a:p>
        </p:txBody>
      </p:sp>
      <p:cxnSp>
        <p:nvCxnSpPr>
          <p:cNvPr id="23" name="dsl:arrow4"/>
          <p:cNvCxnSpPr/>
          <p:nvPr/>
        </p:nvCxnSpPr>
        <p:spPr>
          <a:xfrm>
            <a:off x="8953500" y="2000250"/>
            <a:ext cx="0" cy="381000"/>
          </a:xfrm>
          <a:prstGeom prst="straightConnector1">
            <a:avLst/>
          </a:prstGeom>
          <a:ln w="25400">
            <a:solidFill>
              <a:srgbClr val="0D9488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dsl:box5"/>
          <p:cNvSpPr/>
          <p:nvPr/>
        </p:nvSpPr>
        <p:spPr>
          <a:xfrm>
            <a:off x="8001000" y="2381250"/>
            <a:ext cx="1905000" cy="66675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sl:txt5"/>
          <p:cNvSpPr txBox="1"/>
          <p:nvPr/>
        </p:nvSpPr>
        <p:spPr>
          <a:xfrm>
            <a:off x="8001000" y="2381250"/>
            <a:ext cx="1905000" cy="6667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1050" noProof="1">
                <a:solidFill>
                  <a:srgbClr val="FFFFFF"/>
                </a:solidFill>
                <a:latin typeface="QuattrocentoSans"/>
                <a:ea typeface="QuattrocentoSans"/>
              </a:rPr>
              <a:t>Verificación</a:t>
            </a:r>
          </a:p>
          <a:p>
            <a:pPr algn="ctr"/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Fuentes web</a:t>
            </a:r>
          </a:p>
        </p:txBody>
      </p:sp>
      <p:cxnSp>
        <p:nvCxnSpPr>
          <p:cNvPr id="26" name="dsl:arrow5"/>
          <p:cNvCxnSpPr/>
          <p:nvPr/>
        </p:nvCxnSpPr>
        <p:spPr>
          <a:xfrm>
            <a:off x="7429500" y="2714625"/>
            <a:ext cx="571500" cy="0"/>
          </a:xfrm>
          <a:prstGeom prst="straightConnector1">
            <a:avLst/>
          </a:prstGeom>
          <a:ln w="25400">
            <a:solidFill>
              <a:srgbClr val="0D9488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dsl:box6"/>
          <p:cNvSpPr/>
          <p:nvPr/>
        </p:nvSpPr>
        <p:spPr>
          <a:xfrm>
            <a:off x="5524500" y="2381250"/>
            <a:ext cx="1905000" cy="666750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sl:txt6"/>
          <p:cNvSpPr txBox="1"/>
          <p:nvPr/>
        </p:nvSpPr>
        <p:spPr>
          <a:xfrm>
            <a:off x="5524500" y="2381250"/>
            <a:ext cx="1905000" cy="6667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1050" noProof="1">
                <a:solidFill>
                  <a:srgbClr val="FFFFFF"/>
                </a:solidFill>
                <a:latin typeface="QuattrocentoSans"/>
                <a:ea typeface="QuattrocentoSans"/>
              </a:rPr>
              <a:t>Corrección</a:t>
            </a:r>
          </a:p>
          <a:p>
            <a:pPr algn="ctr"/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MINI final</a:t>
            </a:r>
          </a:p>
        </p:txBody>
      </p:sp>
      <p:cxnSp>
        <p:nvCxnSpPr>
          <p:cNvPr id="29" name="dsl:arrow6"/>
          <p:cNvCxnSpPr/>
          <p:nvPr/>
        </p:nvCxnSpPr>
        <p:spPr>
          <a:xfrm>
            <a:off x="4953000" y="2714625"/>
            <a:ext cx="571500" cy="0"/>
          </a:xfrm>
          <a:prstGeom prst="straightConnector1">
            <a:avLst/>
          </a:prstGeom>
          <a:ln w="25400">
            <a:solidFill>
              <a:srgbClr val="0D9488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dsl:box7"/>
          <p:cNvSpPr/>
          <p:nvPr/>
        </p:nvSpPr>
        <p:spPr>
          <a:xfrm>
            <a:off x="3048000" y="2381250"/>
            <a:ext cx="1905000" cy="666750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sl:txt7"/>
          <p:cNvSpPr txBox="1"/>
          <p:nvPr/>
        </p:nvSpPr>
        <p:spPr>
          <a:xfrm>
            <a:off x="3048000" y="2381250"/>
            <a:ext cx="1905000" cy="6667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1050" noProof="1">
                <a:solidFill>
                  <a:srgbClr val="FFFFFF"/>
                </a:solidFill>
                <a:latin typeface="QuattrocentoSans"/>
                <a:ea typeface="QuattrocentoSans"/>
              </a:rPr>
              <a:t>Estudio</a:t>
            </a:r>
          </a:p>
          <a:p>
            <a:pPr algn="ctr"/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Quiz, flashcards, mapa</a:t>
            </a:r>
          </a:p>
        </p:txBody>
      </p:sp>
      <p:sp>
        <p:nvSpPr>
          <p:cNvPr id="32" name="dsl:desc|s=$body"/>
          <p:cNvSpPr txBox="1"/>
          <p:nvPr/>
        </p:nvSpPr>
        <p:spPr>
          <a:xfrm>
            <a:off x="571500" y="3333750"/>
            <a:ext cx="11049000" cy="2667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200" noProof="1">
                <a:solidFill>
                  <a:srgbClr val="1A1A2E"/>
                </a:solidFill>
                <a:latin typeface="QuattrocentoSans"/>
                <a:ea typeface="QuattrocentoSans"/>
              </a:rPr>
              <a:t>Control de calidad por etapa:</a:t>
            </a:r>
          </a:p>
          <a:p>
            <a:pPr algn="l" lvl="0" indent="-182879" marL="228600">
              <a:lnSpc>
                <a:spcPct val="150000"/>
              </a:lnSpc>
              <a:buChar char="•"/>
            </a:pPr>
            <a:r>
              <a:rPr b="1" sz="1200" noProof="1">
                <a:solidFill>
                  <a:srgbClr val="1A1A2E"/>
                </a:solidFill>
                <a:latin typeface="QuattrocentoSans"/>
                <a:ea typeface="QuattrocentoSans"/>
              </a:rPr>
              <a:t>Preparación:</a:t>
            </a: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 validación de existencia y conteo del contenido</a:t>
            </a:r>
          </a:p>
          <a:p>
            <a:pPr algn="l" lvl="0" indent="-182879" marL="228600">
              <a:lnSpc>
                <a:spcPct val="150000"/>
              </a:lnSpc>
              <a:buChar char="•"/>
            </a:pPr>
            <a:r>
              <a:rPr b="1" sz="1200" noProof="1">
                <a:solidFill>
                  <a:srgbClr val="1A1A2E"/>
                </a:solidFill>
                <a:latin typeface="QuattrocentoSans"/>
                <a:ea typeface="QuattrocentoSans"/>
              </a:rPr>
              <a:t>Transcripción:</a:t>
            </a: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 Whisper local con reparación opcional de WER</a:t>
            </a:r>
          </a:p>
          <a:p>
            <a:pPr algn="l" lvl="0" indent="-182879" marL="228600">
              <a:lnSpc>
                <a:spcPct val="150000"/>
              </a:lnSpc>
              <a:buChar char="•"/>
            </a:pPr>
            <a:r>
              <a:rPr b="1" sz="1200" noProof="1">
                <a:solidFill>
                  <a:srgbClr val="1A1A2E"/>
                </a:solidFill>
                <a:latin typeface="QuattrocentoSans"/>
                <a:ea typeface="QuattrocentoSans"/>
              </a:rPr>
              <a:t>Generación:</a:t>
            </a: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 parseo y recuperación de incoherencias del MINI</a:t>
            </a:r>
          </a:p>
          <a:p>
            <a:pPr algn="l" lvl="0" indent="-182879" marL="228600">
              <a:lnSpc>
                <a:spcPct val="150000"/>
              </a:lnSpc>
              <a:buChar char="•"/>
            </a:pPr>
            <a:r>
              <a:rPr b="1" sz="1200" noProof="1">
                <a:solidFill>
                  <a:srgbClr val="1A1A2E"/>
                </a:solidFill>
                <a:latin typeface="QuattrocentoSans"/>
                <a:ea typeface="QuattrocentoSans"/>
              </a:rPr>
              <a:t>Coherencia:</a:t>
            </a: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 trace de cambios y conteo de items preservados</a:t>
            </a:r>
          </a:p>
          <a:p>
            <a:pPr algn="l" lvl="0" indent="-182879" marL="228600">
              <a:lnSpc>
                <a:spcPct val="150000"/>
              </a:lnSpc>
              <a:buChar char="•"/>
            </a:pPr>
            <a:r>
              <a:rPr b="1" sz="1200" noProof="1">
                <a:solidFill>
                  <a:srgbClr val="1A1A2E"/>
                </a:solidFill>
                <a:latin typeface="QuattrocentoSans"/>
                <a:ea typeface="QuattrocentoSans"/>
              </a:rPr>
              <a:t>Verificación:</a:t>
            </a: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 queries IA dirigidas, URLs, snippets y evidencia factual</a:t>
            </a:r>
          </a:p>
          <a:p>
            <a:pPr algn="l" lvl="0" indent="-182879" marL="228600">
              <a:lnSpc>
                <a:spcPct val="150000"/>
              </a:lnSpc>
              <a:buChar char="•"/>
            </a:pPr>
            <a:r>
              <a:rPr b="1" sz="1200" noProof="1">
                <a:solidFill>
                  <a:srgbClr val="1A1A2E"/>
                </a:solidFill>
                <a:latin typeface="QuattrocentoSans"/>
                <a:ea typeface="QuattrocentoSans"/>
              </a:rPr>
              <a:t>Corrección:</a:t>
            </a: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 cambios trazables por item con reporte eN</a:t>
            </a:r>
          </a:p>
          <a:p>
            <a:pPr algn="l" lvl="0" indent="-182879" marL="228600">
              <a:lnSpc>
                <a:spcPct val="150000"/>
              </a:lnSpc>
              <a:buChar char="•"/>
            </a:pPr>
            <a:r>
              <a:rPr b="1" sz="1200" noProof="1">
                <a:solidFill>
                  <a:srgbClr val="1A1A2E"/>
                </a:solidFill>
                <a:latin typeface="QuattrocentoSans"/>
                <a:ea typeface="QuattrocentoSans"/>
              </a:rPr>
              <a:t>Estudio:</a:t>
            </a: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 banco de 4 alternativas y seguimiento IRT/CAT</a:t>
            </a:r>
          </a:p>
        </p:txBody>
      </p:sp>
      <p:sp>
        <p:nvSpPr>
          <p:cNvPr id="33" name="dsl:page-number|s=$caption"/>
          <p:cNvSpPr txBox="1"/>
          <p:nvPr/>
        </p:nvSpPr>
        <p:spPr>
          <a:xfrm>
            <a:off x="11430000" y="657225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30000"/>
              </a:lnSpc>
            </a:pPr>
            <a:r>
              <a:rPr sz="1050" noProof="1">
                <a:solidFill>
                  <a:srgbClr val="6B7B8C"/>
                </a:solidFill>
                <a:latin typeface="QuattrocentoSans"/>
                <a:ea typeface="Quattrocento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ar"/>
          <p:cNvSpPr/>
          <p:nvPr/>
        </p:nvSpPr>
        <p:spPr>
          <a:xfrm>
            <a:off x="0" y="0"/>
            <a:ext cx="12192000" cy="47625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1|s=$navText"/>
          <p:cNvSpPr txBox="1"/>
          <p:nvPr/>
        </p:nvSpPr>
        <p:spPr>
          <a:xfrm>
            <a:off x="0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Intro</a:t>
            </a:r>
          </a:p>
        </p:txBody>
      </p:sp>
      <p:sp>
        <p:nvSpPr>
          <p:cNvPr id="4" name="dsl:nav2|s=$navText"/>
          <p:cNvSpPr txBox="1"/>
          <p:nvPr/>
        </p:nvSpPr>
        <p:spPr>
          <a:xfrm>
            <a:off x="2028825" y="0"/>
            <a:ext cx="203835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Stack</a:t>
            </a:r>
          </a:p>
        </p:txBody>
      </p:sp>
      <p:sp>
        <p:nvSpPr>
          <p:cNvPr id="5" name="dsl:nav3|s=$navText"/>
          <p:cNvSpPr txBox="1"/>
          <p:nvPr/>
        </p:nvSpPr>
        <p:spPr>
          <a:xfrm>
            <a:off x="4067175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Backlog</a:t>
            </a:r>
          </a:p>
        </p:txBody>
      </p:sp>
      <p:sp>
        <p:nvSpPr>
          <p:cNvPr id="6" name="dsl:nav4|s=$navText"/>
          <p:cNvSpPr txBox="1"/>
          <p:nvPr/>
        </p:nvSpPr>
        <p:spPr>
          <a:xfrm>
            <a:off x="6096000" y="0"/>
            <a:ext cx="203835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Pipeline</a:t>
            </a:r>
          </a:p>
        </p:txBody>
      </p:sp>
      <p:sp>
        <p:nvSpPr>
          <p:cNvPr id="7" name="dsl:nav5|s=$navText"/>
          <p:cNvSpPr txBox="1"/>
          <p:nvPr/>
        </p:nvSpPr>
        <p:spPr>
          <a:xfrm>
            <a:off x="8134350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b="1" sz="1050" noProof="1">
                <a:solidFill>
                  <a:srgbClr val="FFFFFF"/>
                </a:solidFill>
                <a:latin typeface="QuattrocentoSans"/>
                <a:ea typeface="QuattrocentoSans"/>
              </a:rPr>
              <a:t>Vistas</a:t>
            </a:r>
          </a:p>
        </p:txBody>
      </p:sp>
      <p:sp>
        <p:nvSpPr>
          <p:cNvPr id="8" name="dsl:nav6|s=$navText"/>
          <p:cNvSpPr txBox="1"/>
          <p:nvPr/>
        </p:nvSpPr>
        <p:spPr>
          <a:xfrm>
            <a:off x="10163175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Arquitectura</a:t>
            </a:r>
          </a:p>
        </p:txBody>
      </p:sp>
      <p:sp>
        <p:nvSpPr>
          <p:cNvPr id="9" name="dsl:nav-accent"/>
          <p:cNvSpPr/>
          <p:nvPr/>
        </p:nvSpPr>
        <p:spPr>
          <a:xfrm>
            <a:off x="8134350" y="476250"/>
            <a:ext cx="2028825" cy="1905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title|s=$heading"/>
          <p:cNvSpPr txBox="1"/>
          <p:nvPr/>
        </p:nvSpPr>
        <p:spPr>
          <a:xfrm>
            <a:off x="571500" y="619125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2100" noProof="1">
                <a:solidFill>
                  <a:srgbClr val="0F2B46"/>
                </a:solidFill>
                <a:latin typeface="QuattrocentoSans"/>
                <a:ea typeface="QuattrocentoSans"/>
              </a:rPr>
              <a:t>Vista – Dashboard y Landing</a:t>
            </a:r>
          </a:p>
        </p:txBody>
      </p:sp>
      <p:sp>
        <p:nvSpPr>
          <p:cNvPr id="11" name="dsl:title-line"/>
          <p:cNvSpPr/>
          <p:nvPr/>
        </p:nvSpPr>
        <p:spPr>
          <a:xfrm>
            <a:off x="571500" y="1047750"/>
            <a:ext cx="762000" cy="285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card1"/>
          <p:cNvSpPr/>
          <p:nvPr/>
        </p:nvSpPr>
        <p:spPr>
          <a:xfrm>
            <a:off x="571500" y="1238250"/>
            <a:ext cx="5143500" cy="36195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50800" dir="0">
              <a:srgbClr val="000000">
                <a:alpha val="8235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dsl:img1" descr="E:\PaginasQueHice\SIMAApp\output\playwright\ui_eval\dashboard_light.png"/>
          <p:cNvPicPr>
            <a:picLocks noChangeAspect="1"/>
          </p:cNvPicPr>
          <p:nvPr/>
        </p:nvPicPr>
        <p:blipFill>
          <a:blip r:embed="rId2"/>
          <a:srcRect t="20540" b="20540"/>
          <a:stretch>
            <a:fillRect/>
          </a:stretch>
        </p:blipFill>
        <p:spPr>
          <a:xfrm>
            <a:off x="666750" y="1333500"/>
            <a:ext cx="4953000" cy="2857500"/>
          </a:xfrm>
          <a:prstGeom prst="roundRect">
            <a:avLst>
              <a:gd name="adj" fmla="val 2000"/>
            </a:avLst>
          </a:prstGeom>
          <a:ln>
            <a:noFill/>
          </a:ln>
          <a:effectLst/>
        </p:spPr>
      </p:pic>
      <p:sp>
        <p:nvSpPr>
          <p:cNvPr id="14" name="dsl:cap1|s=$caption"/>
          <p:cNvSpPr txBox="1"/>
          <p:nvPr/>
        </p:nvSpPr>
        <p:spPr>
          <a:xfrm>
            <a:off x="666750" y="4286250"/>
            <a:ext cx="4953000" cy="381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noProof="1">
                <a:solidFill>
                  <a:srgbClr val="6B7B8C"/>
                </a:solidFill>
                <a:latin typeface="QuattrocentoSans"/>
                <a:ea typeface="QuattrocentoSans"/>
              </a:rPr>
              <a:t>Dashboard principal con cursos, créditos, racha y actividad reciente</a:t>
            </a:r>
          </a:p>
        </p:txBody>
      </p:sp>
      <p:sp>
        <p:nvSpPr>
          <p:cNvPr id="15" name="dsl:card2"/>
          <p:cNvSpPr/>
          <p:nvPr/>
        </p:nvSpPr>
        <p:spPr>
          <a:xfrm>
            <a:off x="6000750" y="1238250"/>
            <a:ext cx="5143500" cy="36195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50800" dir="0">
              <a:srgbClr val="000000">
                <a:alpha val="8235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dsl:img2" descr="E:\PaginasQueHice\SIMAApp\output\playwright\ui_eval\landing_light.png"/>
          <p:cNvPicPr>
            <a:picLocks noChangeAspect="1"/>
          </p:cNvPicPr>
          <p:nvPr/>
        </p:nvPicPr>
        <p:blipFill>
          <a:blip r:embed="rId3"/>
          <a:srcRect t="20540" b="20540"/>
          <a:stretch>
            <a:fillRect/>
          </a:stretch>
        </p:blipFill>
        <p:spPr>
          <a:xfrm>
            <a:off x="6096000" y="1333500"/>
            <a:ext cx="4953000" cy="2857500"/>
          </a:xfrm>
          <a:prstGeom prst="roundRect">
            <a:avLst>
              <a:gd name="adj" fmla="val 2000"/>
            </a:avLst>
          </a:prstGeom>
          <a:ln>
            <a:noFill/>
          </a:ln>
          <a:effectLst/>
        </p:spPr>
      </p:pic>
      <p:sp>
        <p:nvSpPr>
          <p:cNvPr id="17" name="dsl:cap2|s=$caption"/>
          <p:cNvSpPr txBox="1"/>
          <p:nvPr/>
        </p:nvSpPr>
        <p:spPr>
          <a:xfrm>
            <a:off x="6096000" y="4286250"/>
            <a:ext cx="4953000" cy="381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noProof="1">
                <a:solidFill>
                  <a:srgbClr val="6B7B8C"/>
                </a:solidFill>
                <a:latin typeface="QuattrocentoSans"/>
                <a:ea typeface="QuattrocentoSans"/>
              </a:rPr>
              <a:t>Landing page con acceso a la plataforma y selección de planes</a:t>
            </a:r>
          </a:p>
        </p:txBody>
      </p:sp>
      <p:sp>
        <p:nvSpPr>
          <p:cNvPr id="18" name="dsl:note|s=$body"/>
          <p:cNvSpPr txBox="1"/>
          <p:nvPr/>
        </p:nvSpPr>
        <p:spPr>
          <a:xfrm>
            <a:off x="571500" y="5048250"/>
            <a:ext cx="110490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El </a:t>
            </a:r>
            <a:r>
              <a:rPr b="1" sz="1200" noProof="1">
                <a:solidFill>
                  <a:srgbClr val="1A1A2E"/>
                </a:solidFill>
                <a:latin typeface="QuattrocentoSans"/>
                <a:ea typeface="QuattrocentoSans"/>
              </a:rPr>
              <a:t>dashboard</a:t>
            </a: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 muestra una visión general del progreso: cursos registrados, créditos disponibles, racha actual, actividad reciente y próximas recomendaciones. La </a:t>
            </a:r>
            <a:r>
              <a:rPr b="1" sz="1200" noProof="1">
                <a:solidFill>
                  <a:srgbClr val="1A1A2E"/>
                </a:solidFill>
                <a:latin typeface="QuattrocentoSans"/>
                <a:ea typeface="QuattrocentoSans"/>
              </a:rPr>
              <a:t>landing</a:t>
            </a: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 permite el registro, inicio de sesión y selección de plan (gratuito, estándar o premium) con asignación de créditos.</a:t>
            </a:r>
          </a:p>
        </p:txBody>
      </p:sp>
      <p:sp>
        <p:nvSpPr>
          <p:cNvPr id="19" name="dsl:page-number|s=$caption"/>
          <p:cNvSpPr txBox="1"/>
          <p:nvPr/>
        </p:nvSpPr>
        <p:spPr>
          <a:xfrm>
            <a:off x="11430000" y="657225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30000"/>
              </a:lnSpc>
            </a:pPr>
            <a:r>
              <a:rPr sz="1050" noProof="1">
                <a:solidFill>
                  <a:srgbClr val="6B7B8C"/>
                </a:solidFill>
                <a:latin typeface="QuattrocentoSans"/>
                <a:ea typeface="Quattrocento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ar"/>
          <p:cNvSpPr/>
          <p:nvPr/>
        </p:nvSpPr>
        <p:spPr>
          <a:xfrm>
            <a:off x="0" y="0"/>
            <a:ext cx="12192000" cy="47625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1|s=$navText"/>
          <p:cNvSpPr txBox="1"/>
          <p:nvPr/>
        </p:nvSpPr>
        <p:spPr>
          <a:xfrm>
            <a:off x="0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Intro</a:t>
            </a:r>
          </a:p>
        </p:txBody>
      </p:sp>
      <p:sp>
        <p:nvSpPr>
          <p:cNvPr id="4" name="dsl:nav2|s=$navText"/>
          <p:cNvSpPr txBox="1"/>
          <p:nvPr/>
        </p:nvSpPr>
        <p:spPr>
          <a:xfrm>
            <a:off x="2028825" y="0"/>
            <a:ext cx="203835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Stack</a:t>
            </a:r>
          </a:p>
        </p:txBody>
      </p:sp>
      <p:sp>
        <p:nvSpPr>
          <p:cNvPr id="5" name="dsl:nav3|s=$navText"/>
          <p:cNvSpPr txBox="1"/>
          <p:nvPr/>
        </p:nvSpPr>
        <p:spPr>
          <a:xfrm>
            <a:off x="4067175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Backlog</a:t>
            </a:r>
          </a:p>
        </p:txBody>
      </p:sp>
      <p:sp>
        <p:nvSpPr>
          <p:cNvPr id="6" name="dsl:nav4|s=$navText"/>
          <p:cNvSpPr txBox="1"/>
          <p:nvPr/>
        </p:nvSpPr>
        <p:spPr>
          <a:xfrm>
            <a:off x="6096000" y="0"/>
            <a:ext cx="203835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Pipeline</a:t>
            </a:r>
          </a:p>
        </p:txBody>
      </p:sp>
      <p:sp>
        <p:nvSpPr>
          <p:cNvPr id="7" name="dsl:nav5|s=$navText"/>
          <p:cNvSpPr txBox="1"/>
          <p:nvPr/>
        </p:nvSpPr>
        <p:spPr>
          <a:xfrm>
            <a:off x="8134350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b="1" sz="1050" noProof="1">
                <a:solidFill>
                  <a:srgbClr val="FFFFFF"/>
                </a:solidFill>
                <a:latin typeface="QuattrocentoSans"/>
                <a:ea typeface="QuattrocentoSans"/>
              </a:rPr>
              <a:t>Vistas</a:t>
            </a:r>
          </a:p>
        </p:txBody>
      </p:sp>
      <p:sp>
        <p:nvSpPr>
          <p:cNvPr id="8" name="dsl:nav6|s=$navText"/>
          <p:cNvSpPr txBox="1"/>
          <p:nvPr/>
        </p:nvSpPr>
        <p:spPr>
          <a:xfrm>
            <a:off x="10163175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Arquitectura</a:t>
            </a:r>
          </a:p>
        </p:txBody>
      </p:sp>
      <p:sp>
        <p:nvSpPr>
          <p:cNvPr id="9" name="dsl:nav-accent"/>
          <p:cNvSpPr/>
          <p:nvPr/>
        </p:nvSpPr>
        <p:spPr>
          <a:xfrm>
            <a:off x="8134350" y="476250"/>
            <a:ext cx="2028825" cy="1905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title|s=$heading"/>
          <p:cNvSpPr txBox="1"/>
          <p:nvPr/>
        </p:nvSpPr>
        <p:spPr>
          <a:xfrm>
            <a:off x="571500" y="619125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2100" noProof="1">
                <a:solidFill>
                  <a:srgbClr val="0F2B46"/>
                </a:solidFill>
                <a:latin typeface="QuattrocentoSans"/>
                <a:ea typeface="QuattrocentoSans"/>
              </a:rPr>
              <a:t>Vista – Gestión de Cursos y Clases</a:t>
            </a:r>
          </a:p>
        </p:txBody>
      </p:sp>
      <p:sp>
        <p:nvSpPr>
          <p:cNvPr id="11" name="dsl:title-line"/>
          <p:cNvSpPr/>
          <p:nvPr/>
        </p:nvSpPr>
        <p:spPr>
          <a:xfrm>
            <a:off x="571500" y="1047750"/>
            <a:ext cx="762000" cy="285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card1"/>
          <p:cNvSpPr/>
          <p:nvPr/>
        </p:nvSpPr>
        <p:spPr>
          <a:xfrm>
            <a:off x="571500" y="1238250"/>
            <a:ext cx="3524250" cy="2667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50800" dir="0">
              <a:srgbClr val="000000">
                <a:alpha val="8235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dsl:img1" descr="E:\PaginasQueHice\SIMAApp\output\playwright\09-course-detail.png"/>
          <p:cNvPicPr>
            <a:picLocks noChangeAspect="1"/>
          </p:cNvPicPr>
          <p:nvPr/>
        </p:nvPicPr>
        <p:blipFill>
          <a:blip r:embed="rId2"/>
          <a:srcRect t="12500" b="12500"/>
          <a:stretch>
            <a:fillRect/>
          </a:stretch>
        </p:blipFill>
        <p:spPr>
          <a:xfrm>
            <a:off x="666750" y="1333500"/>
            <a:ext cx="3333750" cy="2000250"/>
          </a:xfrm>
          <a:prstGeom prst="roundRect">
            <a:avLst>
              <a:gd name="adj" fmla="val 2000"/>
            </a:avLst>
          </a:prstGeom>
          <a:ln>
            <a:noFill/>
          </a:ln>
          <a:effectLst/>
        </p:spPr>
      </p:pic>
      <p:sp>
        <p:nvSpPr>
          <p:cNvPr id="14" name="dsl:cap1|s=$caption"/>
          <p:cNvSpPr txBox="1"/>
          <p:nvPr/>
        </p:nvSpPr>
        <p:spPr>
          <a:xfrm>
            <a:off x="666750" y="3409950"/>
            <a:ext cx="3333750" cy="381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noProof="1">
                <a:solidFill>
                  <a:srgbClr val="6B7B8C"/>
                </a:solidFill>
                <a:latin typeface="QuattrocentoSans"/>
                <a:ea typeface="QuattrocentoSans"/>
              </a:rPr>
              <a:t>Detalle de curso con clases y materiales</a:t>
            </a:r>
          </a:p>
        </p:txBody>
      </p:sp>
      <p:sp>
        <p:nvSpPr>
          <p:cNvPr id="15" name="dsl:card2"/>
          <p:cNvSpPr/>
          <p:nvPr/>
        </p:nvSpPr>
        <p:spPr>
          <a:xfrm>
            <a:off x="4286250" y="1238250"/>
            <a:ext cx="3524250" cy="2667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50800" dir="0">
              <a:srgbClr val="000000">
                <a:alpha val="8235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dsl:img2" descr="E:\PaginasQueHice\SIMAApp\output\playwright\10-course-form.png"/>
          <p:cNvPicPr>
            <a:picLocks noChangeAspect="1"/>
          </p:cNvPicPr>
          <p:nvPr/>
        </p:nvPicPr>
        <p:blipFill>
          <a:blip r:embed="rId3"/>
          <a:srcRect t="29388" b="29388"/>
          <a:stretch>
            <a:fillRect/>
          </a:stretch>
        </p:blipFill>
        <p:spPr>
          <a:xfrm>
            <a:off x="4381500" y="1333500"/>
            <a:ext cx="3333750" cy="2000250"/>
          </a:xfrm>
          <a:prstGeom prst="roundRect">
            <a:avLst>
              <a:gd name="adj" fmla="val 2000"/>
            </a:avLst>
          </a:prstGeom>
          <a:ln>
            <a:noFill/>
          </a:ln>
          <a:effectLst/>
        </p:spPr>
      </p:pic>
      <p:sp>
        <p:nvSpPr>
          <p:cNvPr id="17" name="dsl:cap2|s=$caption"/>
          <p:cNvSpPr txBox="1"/>
          <p:nvPr/>
        </p:nvSpPr>
        <p:spPr>
          <a:xfrm>
            <a:off x="4381500" y="3409950"/>
            <a:ext cx="3333750" cy="381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noProof="1">
                <a:solidFill>
                  <a:srgbClr val="6B7B8C"/>
                </a:solidFill>
                <a:latin typeface="QuattrocentoSans"/>
                <a:ea typeface="QuattrocentoSans"/>
              </a:rPr>
              <a:t>Formulario de creación de curso</a:t>
            </a:r>
          </a:p>
        </p:txBody>
      </p:sp>
      <p:sp>
        <p:nvSpPr>
          <p:cNvPr id="18" name="dsl:card3"/>
          <p:cNvSpPr/>
          <p:nvPr/>
        </p:nvSpPr>
        <p:spPr>
          <a:xfrm>
            <a:off x="8001000" y="1238250"/>
            <a:ext cx="3524250" cy="2667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50800" dir="0">
              <a:srgbClr val="000000">
                <a:alpha val="8235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dsl:img3" descr="E:\PaginasQueHice\SIMAApp\output\playwright\ui_eval\lesson_detail_light.png"/>
          <p:cNvPicPr>
            <a:picLocks noChangeAspect="1"/>
          </p:cNvPicPr>
          <p:nvPr/>
        </p:nvPicPr>
        <p:blipFill>
          <a:blip r:embed="rId4"/>
          <a:srcRect t="26673" b="26673"/>
          <a:stretch>
            <a:fillRect/>
          </a:stretch>
        </p:blipFill>
        <p:spPr>
          <a:xfrm>
            <a:off x="8096250" y="1333500"/>
            <a:ext cx="3333750" cy="2000250"/>
          </a:xfrm>
          <a:prstGeom prst="roundRect">
            <a:avLst>
              <a:gd name="adj" fmla="val 2000"/>
            </a:avLst>
          </a:prstGeom>
          <a:ln>
            <a:noFill/>
          </a:ln>
          <a:effectLst/>
        </p:spPr>
      </p:pic>
      <p:sp>
        <p:nvSpPr>
          <p:cNvPr id="20" name="dsl:cap3|s=$caption"/>
          <p:cNvSpPr txBox="1"/>
          <p:nvPr/>
        </p:nvSpPr>
        <p:spPr>
          <a:xfrm>
            <a:off x="8096250" y="3409950"/>
            <a:ext cx="3333750" cy="381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noProof="1">
                <a:solidFill>
                  <a:srgbClr val="6B7B8C"/>
                </a:solidFill>
                <a:latin typeface="QuattrocentoSans"/>
                <a:ea typeface="QuattrocentoSans"/>
              </a:rPr>
              <a:t>Detalle de clase con transcripción y materiales</a:t>
            </a:r>
          </a:p>
        </p:txBody>
      </p:sp>
      <p:sp>
        <p:nvSpPr>
          <p:cNvPr id="21" name="dsl:note|s=$body"/>
          <p:cNvSpPr txBox="1"/>
          <p:nvPr/>
        </p:nvSpPr>
        <p:spPr>
          <a:xfrm>
            <a:off x="571500" y="4095750"/>
            <a:ext cx="11049000" cy="2095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El sistema permite </a:t>
            </a:r>
            <a:r>
              <a:rPr b="1" sz="1200" noProof="1">
                <a:solidFill>
                  <a:srgbClr val="1A1A2E"/>
                </a:solidFill>
                <a:latin typeface="QuattrocentoSans"/>
                <a:ea typeface="QuattrocentoSans"/>
              </a:rPr>
              <a:t>crear cursos</a:t>
            </a: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 con nombre, ciclo académico, temas principales y objetivo del estudiante. Cada clase subida pertenece a un curso y se procesa para generar materiales. El </a:t>
            </a:r>
            <a:r>
              <a:rPr b="1" sz="1200" noProof="1">
                <a:solidFill>
                  <a:srgbClr val="1A1A2E"/>
                </a:solidFill>
                <a:latin typeface="QuattrocentoSans"/>
                <a:ea typeface="QuattrocentoSans"/>
              </a:rPr>
              <a:t>detalle de clase</a:t>
            </a: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 muestra el audio/video original, la transcripción completa, el resumen y acceso a los microcontenidos generados.</a:t>
            </a:r>
          </a:p>
          <a:p>
            <a:pPr algn="l">
              <a:lnSpc>
                <a:spcPct val="150000"/>
              </a:lnSpc>
              <a:spcBef>
                <a:spcPts val="750"/>
              </a:spcBef>
            </a:pP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Antes de procesar, el sistema verifica que el usuario tenga créditos suficientes, valida el formato del archivo y calcula el costo estimado en créditos.</a:t>
            </a:r>
          </a:p>
        </p:txBody>
      </p:sp>
      <p:sp>
        <p:nvSpPr>
          <p:cNvPr id="22" name="dsl:page-number|s=$caption"/>
          <p:cNvSpPr txBox="1"/>
          <p:nvPr/>
        </p:nvSpPr>
        <p:spPr>
          <a:xfrm>
            <a:off x="11430000" y="657225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30000"/>
              </a:lnSpc>
            </a:pPr>
            <a:r>
              <a:rPr sz="1050" noProof="1">
                <a:solidFill>
                  <a:srgbClr val="6B7B8C"/>
                </a:solidFill>
                <a:latin typeface="QuattrocentoSans"/>
                <a:ea typeface="Quattrocento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ar"/>
          <p:cNvSpPr/>
          <p:nvPr/>
        </p:nvSpPr>
        <p:spPr>
          <a:xfrm>
            <a:off x="0" y="0"/>
            <a:ext cx="12192000" cy="47625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1|s=$navText"/>
          <p:cNvSpPr txBox="1"/>
          <p:nvPr/>
        </p:nvSpPr>
        <p:spPr>
          <a:xfrm>
            <a:off x="0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Intro</a:t>
            </a:r>
          </a:p>
        </p:txBody>
      </p:sp>
      <p:sp>
        <p:nvSpPr>
          <p:cNvPr id="4" name="dsl:nav2|s=$navText"/>
          <p:cNvSpPr txBox="1"/>
          <p:nvPr/>
        </p:nvSpPr>
        <p:spPr>
          <a:xfrm>
            <a:off x="2028825" y="0"/>
            <a:ext cx="203835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Stack</a:t>
            </a:r>
          </a:p>
        </p:txBody>
      </p:sp>
      <p:sp>
        <p:nvSpPr>
          <p:cNvPr id="5" name="dsl:nav3|s=$navText"/>
          <p:cNvSpPr txBox="1"/>
          <p:nvPr/>
        </p:nvSpPr>
        <p:spPr>
          <a:xfrm>
            <a:off x="4067175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Backlog</a:t>
            </a:r>
          </a:p>
        </p:txBody>
      </p:sp>
      <p:sp>
        <p:nvSpPr>
          <p:cNvPr id="6" name="dsl:nav4|s=$navText"/>
          <p:cNvSpPr txBox="1"/>
          <p:nvPr/>
        </p:nvSpPr>
        <p:spPr>
          <a:xfrm>
            <a:off x="6096000" y="0"/>
            <a:ext cx="203835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Pipeline</a:t>
            </a:r>
          </a:p>
        </p:txBody>
      </p:sp>
      <p:sp>
        <p:nvSpPr>
          <p:cNvPr id="7" name="dsl:nav5|s=$navText"/>
          <p:cNvSpPr txBox="1"/>
          <p:nvPr/>
        </p:nvSpPr>
        <p:spPr>
          <a:xfrm>
            <a:off x="8134350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b="1" sz="1050" noProof="1">
                <a:solidFill>
                  <a:srgbClr val="FFFFFF"/>
                </a:solidFill>
                <a:latin typeface="QuattrocentoSans"/>
                <a:ea typeface="QuattrocentoSans"/>
              </a:rPr>
              <a:t>Vistas</a:t>
            </a:r>
          </a:p>
        </p:txBody>
      </p:sp>
      <p:sp>
        <p:nvSpPr>
          <p:cNvPr id="8" name="dsl:nav6|s=$navText"/>
          <p:cNvSpPr txBox="1"/>
          <p:nvPr/>
        </p:nvSpPr>
        <p:spPr>
          <a:xfrm>
            <a:off x="10163175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Arquitectura</a:t>
            </a:r>
          </a:p>
        </p:txBody>
      </p:sp>
      <p:sp>
        <p:nvSpPr>
          <p:cNvPr id="9" name="dsl:nav-accent"/>
          <p:cNvSpPr/>
          <p:nvPr/>
        </p:nvSpPr>
        <p:spPr>
          <a:xfrm>
            <a:off x="8134350" y="476250"/>
            <a:ext cx="2028825" cy="1905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title|s=$heading"/>
          <p:cNvSpPr txBox="1"/>
          <p:nvPr/>
        </p:nvSpPr>
        <p:spPr>
          <a:xfrm>
            <a:off x="571500" y="619125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2100" noProof="1">
                <a:solidFill>
                  <a:srgbClr val="0F2B46"/>
                </a:solidFill>
                <a:latin typeface="QuattrocentoSans"/>
                <a:ea typeface="QuattrocentoSans"/>
              </a:rPr>
              <a:t>Vista – Pipeline de Procesamiento</a:t>
            </a:r>
          </a:p>
        </p:txBody>
      </p:sp>
      <p:sp>
        <p:nvSpPr>
          <p:cNvPr id="11" name="dsl:title-line"/>
          <p:cNvSpPr/>
          <p:nvPr/>
        </p:nvSpPr>
        <p:spPr>
          <a:xfrm>
            <a:off x="571500" y="1047750"/>
            <a:ext cx="762000" cy="285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card1"/>
          <p:cNvSpPr/>
          <p:nvPr/>
        </p:nvSpPr>
        <p:spPr>
          <a:xfrm>
            <a:off x="571500" y="1238250"/>
            <a:ext cx="6667500" cy="36195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50800" dir="0">
              <a:srgbClr val="000000">
                <a:alpha val="8235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dsl:img1" descr="E:\PaginasQueHice\SIMAApp\output\playwright\ui_eval\pipeline_viz_light.png"/>
          <p:cNvPicPr>
            <a:picLocks noChangeAspect="1"/>
          </p:cNvPicPr>
          <p:nvPr/>
        </p:nvPicPr>
        <p:blipFill>
          <a:blip r:embed="rId2"/>
          <a:srcRect t="14705" b="14705"/>
          <a:stretch>
            <a:fillRect/>
          </a:stretch>
        </p:blipFill>
        <p:spPr>
          <a:xfrm>
            <a:off x="666750" y="1333500"/>
            <a:ext cx="6477000" cy="2857500"/>
          </a:xfrm>
          <a:prstGeom prst="roundRect">
            <a:avLst>
              <a:gd name="adj" fmla="val 2000"/>
            </a:avLst>
          </a:prstGeom>
          <a:ln>
            <a:noFill/>
          </a:ln>
          <a:effectLst/>
        </p:spPr>
      </p:pic>
      <p:sp>
        <p:nvSpPr>
          <p:cNvPr id="14" name="dsl:cap1|s=$caption"/>
          <p:cNvSpPr txBox="1"/>
          <p:nvPr/>
        </p:nvSpPr>
        <p:spPr>
          <a:xfrm>
            <a:off x="666750" y="4286250"/>
            <a:ext cx="6477000" cy="381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noProof="1">
                <a:solidFill>
                  <a:srgbClr val="6B7B8C"/>
                </a:solidFill>
                <a:latin typeface="QuattrocentoSans"/>
                <a:ea typeface="QuattrocentoSans"/>
              </a:rPr>
              <a:t>Visualización del pipeline por etapas con estados en tiempo real</a:t>
            </a:r>
          </a:p>
        </p:txBody>
      </p:sp>
      <p:sp>
        <p:nvSpPr>
          <p:cNvPr id="15" name="dsl:card2"/>
          <p:cNvSpPr/>
          <p:nvPr/>
        </p:nvSpPr>
        <p:spPr>
          <a:xfrm>
            <a:off x="7524750" y="1238250"/>
            <a:ext cx="4000500" cy="36195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50800" dir="0">
              <a:srgbClr val="000000">
                <a:alpha val="8235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dsl:img2" descr="E:\PaginasQueHice\SIMAApp\output\playwright\pipeline_verification_modal.png"/>
          <p:cNvPicPr>
            <a:picLocks noChangeAspect="1"/>
          </p:cNvPicPr>
          <p:nvPr/>
        </p:nvPicPr>
        <p:blipFill>
          <a:blip r:embed="rId3"/>
          <a:srcRect t="14338" b="14338"/>
          <a:stretch>
            <a:fillRect/>
          </a:stretch>
        </p:blipFill>
        <p:spPr>
          <a:xfrm>
            <a:off x="7620000" y="1333500"/>
            <a:ext cx="3810000" cy="2857500"/>
          </a:xfrm>
          <a:prstGeom prst="roundRect">
            <a:avLst>
              <a:gd name="adj" fmla="val 2000"/>
            </a:avLst>
          </a:prstGeom>
          <a:ln>
            <a:noFill/>
          </a:ln>
          <a:effectLst/>
        </p:spPr>
      </p:pic>
      <p:sp>
        <p:nvSpPr>
          <p:cNvPr id="17" name="dsl:cap2|s=$caption"/>
          <p:cNvSpPr txBox="1"/>
          <p:nvPr/>
        </p:nvSpPr>
        <p:spPr>
          <a:xfrm>
            <a:off x="7620000" y="4286250"/>
            <a:ext cx="3810000" cy="381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noProof="1">
                <a:solidFill>
                  <a:srgbClr val="6B7B8C"/>
                </a:solidFill>
                <a:latin typeface="QuattrocentoSans"/>
                <a:ea typeface="QuattrocentoSans"/>
              </a:rPr>
              <a:t>Modal de verificación con fuentes web y evidencia</a:t>
            </a:r>
          </a:p>
        </p:txBody>
      </p:sp>
      <p:sp>
        <p:nvSpPr>
          <p:cNvPr id="18" name="dsl:note|s=$body"/>
          <p:cNvSpPr txBox="1"/>
          <p:nvPr/>
        </p:nvSpPr>
        <p:spPr>
          <a:xfrm>
            <a:off x="571500" y="5048250"/>
            <a:ext cx="110490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La </a:t>
            </a:r>
            <a:r>
              <a:rPr b="1" sz="1200" noProof="1">
                <a:solidFill>
                  <a:srgbClr val="1A1A2E"/>
                </a:solidFill>
                <a:latin typeface="QuattrocentoSans"/>
                <a:ea typeface="QuattrocentoSans"/>
              </a:rPr>
              <a:t>vista pipeline</a:t>
            </a: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 convierte el proceso interno en evidencia de desarrollo. Cada etapa expone: prompt utilizado, entrada procesada, salida generada, evidencia web recuperada y correcciones aplicadas. Esto permite auditoría completa ante el evaluador.</a:t>
            </a:r>
          </a:p>
        </p:txBody>
      </p:sp>
      <p:sp>
        <p:nvSpPr>
          <p:cNvPr id="19" name="dsl:page-number|s=$caption"/>
          <p:cNvSpPr txBox="1"/>
          <p:nvPr/>
        </p:nvSpPr>
        <p:spPr>
          <a:xfrm>
            <a:off x="11430000" y="657225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30000"/>
              </a:lnSpc>
            </a:pPr>
            <a:r>
              <a:rPr sz="1050" noProof="1">
                <a:solidFill>
                  <a:srgbClr val="6B7B8C"/>
                </a:solidFill>
                <a:latin typeface="QuattrocentoSans"/>
                <a:ea typeface="Quattrocento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ar"/>
          <p:cNvSpPr/>
          <p:nvPr/>
        </p:nvSpPr>
        <p:spPr>
          <a:xfrm>
            <a:off x="0" y="0"/>
            <a:ext cx="12192000" cy="47625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1|s=$navText"/>
          <p:cNvSpPr txBox="1"/>
          <p:nvPr/>
        </p:nvSpPr>
        <p:spPr>
          <a:xfrm>
            <a:off x="0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Intro</a:t>
            </a:r>
          </a:p>
        </p:txBody>
      </p:sp>
      <p:sp>
        <p:nvSpPr>
          <p:cNvPr id="4" name="dsl:nav2|s=$navText"/>
          <p:cNvSpPr txBox="1"/>
          <p:nvPr/>
        </p:nvSpPr>
        <p:spPr>
          <a:xfrm>
            <a:off x="2028825" y="0"/>
            <a:ext cx="203835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Stack</a:t>
            </a:r>
          </a:p>
        </p:txBody>
      </p:sp>
      <p:sp>
        <p:nvSpPr>
          <p:cNvPr id="5" name="dsl:nav3|s=$navText"/>
          <p:cNvSpPr txBox="1"/>
          <p:nvPr/>
        </p:nvSpPr>
        <p:spPr>
          <a:xfrm>
            <a:off x="4067175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Backlog</a:t>
            </a:r>
          </a:p>
        </p:txBody>
      </p:sp>
      <p:sp>
        <p:nvSpPr>
          <p:cNvPr id="6" name="dsl:nav4|s=$navText"/>
          <p:cNvSpPr txBox="1"/>
          <p:nvPr/>
        </p:nvSpPr>
        <p:spPr>
          <a:xfrm>
            <a:off x="6096000" y="0"/>
            <a:ext cx="203835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Pipeline</a:t>
            </a:r>
          </a:p>
        </p:txBody>
      </p:sp>
      <p:sp>
        <p:nvSpPr>
          <p:cNvPr id="7" name="dsl:nav5|s=$navText"/>
          <p:cNvSpPr txBox="1"/>
          <p:nvPr/>
        </p:nvSpPr>
        <p:spPr>
          <a:xfrm>
            <a:off x="8134350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b="1" sz="1050" noProof="1">
                <a:solidFill>
                  <a:srgbClr val="FFFFFF"/>
                </a:solidFill>
                <a:latin typeface="QuattrocentoSans"/>
                <a:ea typeface="QuattrocentoSans"/>
              </a:rPr>
              <a:t>Vistas</a:t>
            </a:r>
          </a:p>
        </p:txBody>
      </p:sp>
      <p:sp>
        <p:nvSpPr>
          <p:cNvPr id="8" name="dsl:nav6|s=$navText"/>
          <p:cNvSpPr txBox="1"/>
          <p:nvPr/>
        </p:nvSpPr>
        <p:spPr>
          <a:xfrm>
            <a:off x="10163175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Arquitectura</a:t>
            </a:r>
          </a:p>
        </p:txBody>
      </p:sp>
      <p:sp>
        <p:nvSpPr>
          <p:cNvPr id="9" name="dsl:nav-accent"/>
          <p:cNvSpPr/>
          <p:nvPr/>
        </p:nvSpPr>
        <p:spPr>
          <a:xfrm>
            <a:off x="8134350" y="476250"/>
            <a:ext cx="2028825" cy="1905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title|s=$heading"/>
          <p:cNvSpPr txBox="1"/>
          <p:nvPr/>
        </p:nvSpPr>
        <p:spPr>
          <a:xfrm>
            <a:off x="571500" y="619125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2100" noProof="1">
                <a:solidFill>
                  <a:srgbClr val="0F2B46"/>
                </a:solidFill>
                <a:latin typeface="QuattrocentoSans"/>
                <a:ea typeface="QuattrocentoSans"/>
              </a:rPr>
              <a:t>Vista – Microcontenidos Generados</a:t>
            </a:r>
          </a:p>
        </p:txBody>
      </p:sp>
      <p:sp>
        <p:nvSpPr>
          <p:cNvPr id="11" name="dsl:title-line"/>
          <p:cNvSpPr/>
          <p:nvPr/>
        </p:nvSpPr>
        <p:spPr>
          <a:xfrm>
            <a:off x="571500" y="1047750"/>
            <a:ext cx="762000" cy="285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card1"/>
          <p:cNvSpPr/>
          <p:nvPr/>
        </p:nvSpPr>
        <p:spPr>
          <a:xfrm>
            <a:off x="571500" y="1238250"/>
            <a:ext cx="5334000" cy="24765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50800" dir="0">
              <a:srgbClr val="000000">
                <a:alpha val="8235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dsl:img1" descr="E:\PaginasQueHice\SIMAApp\output\playwright\04-flashcards.png"/>
          <p:cNvPicPr>
            <a:picLocks noChangeAspect="1"/>
          </p:cNvPicPr>
          <p:nvPr/>
        </p:nvPicPr>
        <p:blipFill>
          <a:blip r:embed="rId2"/>
          <a:srcRect t="24176" b="24176"/>
          <a:stretch>
            <a:fillRect/>
          </a:stretch>
        </p:blipFill>
        <p:spPr>
          <a:xfrm>
            <a:off x="666750" y="1333500"/>
            <a:ext cx="5143500" cy="1809750"/>
          </a:xfrm>
          <a:prstGeom prst="roundRect">
            <a:avLst>
              <a:gd name="adj" fmla="val 2000"/>
            </a:avLst>
          </a:prstGeom>
          <a:ln>
            <a:noFill/>
          </a:ln>
          <a:effectLst/>
        </p:spPr>
      </p:pic>
      <p:sp>
        <p:nvSpPr>
          <p:cNvPr id="14" name="dsl:cap1|s=$caption"/>
          <p:cNvSpPr txBox="1"/>
          <p:nvPr/>
        </p:nvSpPr>
        <p:spPr>
          <a:xfrm>
            <a:off x="666750" y="3219450"/>
            <a:ext cx="5143500" cy="381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noProof="1">
                <a:solidFill>
                  <a:srgbClr val="6B7B8C"/>
                </a:solidFill>
                <a:latin typeface="QuattrocentoSans"/>
                <a:ea typeface="QuattrocentoSans"/>
              </a:rPr>
              <a:t>Flashcards con pregunta, respuesta y tema asociado</a:t>
            </a:r>
          </a:p>
        </p:txBody>
      </p:sp>
      <p:sp>
        <p:nvSpPr>
          <p:cNvPr id="15" name="dsl:card2"/>
          <p:cNvSpPr/>
          <p:nvPr/>
        </p:nvSpPr>
        <p:spPr>
          <a:xfrm>
            <a:off x="6096000" y="1238250"/>
            <a:ext cx="5334000" cy="24765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50800" dir="0">
              <a:srgbClr val="000000">
                <a:alpha val="8235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dsl:img2" descr="E:\PaginasQueHice\SIMAApp\output\playwright\03-class-map.png"/>
          <p:cNvPicPr>
            <a:picLocks noChangeAspect="1"/>
          </p:cNvPicPr>
          <p:nvPr/>
        </p:nvPicPr>
        <p:blipFill>
          <a:blip r:embed="rId3"/>
          <a:srcRect t="38422" b="38422"/>
          <a:stretch>
            <a:fillRect/>
          </a:stretch>
        </p:blipFill>
        <p:spPr>
          <a:xfrm>
            <a:off x="6191250" y="1333500"/>
            <a:ext cx="5143500" cy="1809750"/>
          </a:xfrm>
          <a:prstGeom prst="roundRect">
            <a:avLst>
              <a:gd name="adj" fmla="val 2000"/>
            </a:avLst>
          </a:prstGeom>
          <a:ln>
            <a:noFill/>
          </a:ln>
          <a:effectLst/>
        </p:spPr>
      </p:pic>
      <p:sp>
        <p:nvSpPr>
          <p:cNvPr id="17" name="dsl:cap2|s=$caption"/>
          <p:cNvSpPr txBox="1"/>
          <p:nvPr/>
        </p:nvSpPr>
        <p:spPr>
          <a:xfrm>
            <a:off x="6191250" y="3219450"/>
            <a:ext cx="5143500" cy="381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noProof="1">
                <a:solidFill>
                  <a:srgbClr val="6B7B8C"/>
                </a:solidFill>
                <a:latin typeface="QuattrocentoSans"/>
                <a:ea typeface="QuattrocentoSans"/>
              </a:rPr>
              <a:t>Mapa conceptual de clase con nodos de dominio</a:t>
            </a:r>
          </a:p>
        </p:txBody>
      </p:sp>
      <p:sp>
        <p:nvSpPr>
          <p:cNvPr id="18" name="dsl:card3"/>
          <p:cNvSpPr/>
          <p:nvPr/>
        </p:nvSpPr>
        <p:spPr>
          <a:xfrm>
            <a:off x="571500" y="3905250"/>
            <a:ext cx="5334000" cy="228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50800" dir="0">
              <a:srgbClr val="000000">
                <a:alpha val="8235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dsl:img3" descr="E:\PaginasQueHice\SIMAApp\output\playwright\05-matching.png"/>
          <p:cNvPicPr>
            <a:picLocks noChangeAspect="1"/>
          </p:cNvPicPr>
          <p:nvPr/>
        </p:nvPicPr>
        <p:blipFill>
          <a:blip r:embed="rId4"/>
          <a:srcRect t="30304" b="30304"/>
          <a:stretch>
            <a:fillRect/>
          </a:stretch>
        </p:blipFill>
        <p:spPr>
          <a:xfrm>
            <a:off x="666750" y="4000500"/>
            <a:ext cx="5143500" cy="1619250"/>
          </a:xfrm>
          <a:prstGeom prst="roundRect">
            <a:avLst>
              <a:gd name="adj" fmla="val 2000"/>
            </a:avLst>
          </a:prstGeom>
          <a:ln>
            <a:noFill/>
          </a:ln>
          <a:effectLst/>
        </p:spPr>
      </p:pic>
      <p:sp>
        <p:nvSpPr>
          <p:cNvPr id="20" name="dsl:cap3|s=$caption"/>
          <p:cNvSpPr txBox="1"/>
          <p:nvPr/>
        </p:nvSpPr>
        <p:spPr>
          <a:xfrm>
            <a:off x="666750" y="5695950"/>
            <a:ext cx="5143500" cy="381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noProof="1">
                <a:solidFill>
                  <a:srgbClr val="6B7B8C"/>
                </a:solidFill>
                <a:latin typeface="QuattrocentoSans"/>
                <a:ea typeface="QuattrocentoSans"/>
              </a:rPr>
              <a:t>Ejercicio de emparejamiento (matching)</a:t>
            </a:r>
          </a:p>
        </p:txBody>
      </p:sp>
      <p:sp>
        <p:nvSpPr>
          <p:cNvPr id="21" name="dsl:card4"/>
          <p:cNvSpPr/>
          <p:nvPr/>
        </p:nvSpPr>
        <p:spPr>
          <a:xfrm>
            <a:off x="6096000" y="3905250"/>
            <a:ext cx="5334000" cy="228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50800" dir="0">
              <a:srgbClr val="000000">
                <a:alpha val="8235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dsl:img4" descr="E:\PaginasQueHice\SIMAApp\output\playwright\06-cloze.png"/>
          <p:cNvPicPr>
            <a:picLocks noChangeAspect="1"/>
          </p:cNvPicPr>
          <p:nvPr/>
        </p:nvPicPr>
        <p:blipFill>
          <a:blip r:embed="rId5"/>
          <a:srcRect t="35730" b="35730"/>
          <a:stretch>
            <a:fillRect/>
          </a:stretch>
        </p:blipFill>
        <p:spPr>
          <a:xfrm>
            <a:off x="6191250" y="4000500"/>
            <a:ext cx="5143500" cy="1619250"/>
          </a:xfrm>
          <a:prstGeom prst="roundRect">
            <a:avLst>
              <a:gd name="adj" fmla="val 2000"/>
            </a:avLst>
          </a:prstGeom>
          <a:ln>
            <a:noFill/>
          </a:ln>
          <a:effectLst/>
        </p:spPr>
      </p:pic>
      <p:sp>
        <p:nvSpPr>
          <p:cNvPr id="23" name="dsl:cap4|s=$caption"/>
          <p:cNvSpPr txBox="1"/>
          <p:nvPr/>
        </p:nvSpPr>
        <p:spPr>
          <a:xfrm>
            <a:off x="6191250" y="5695950"/>
            <a:ext cx="5143500" cy="381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noProof="1">
                <a:solidFill>
                  <a:srgbClr val="6B7B8C"/>
                </a:solidFill>
                <a:latin typeface="QuattrocentoSans"/>
                <a:ea typeface="QuattrocentoSans"/>
              </a:rPr>
              <a:t>Ejercicio de completar (cloze)</a:t>
            </a:r>
          </a:p>
        </p:txBody>
      </p:sp>
      <p:sp>
        <p:nvSpPr>
          <p:cNvPr id="24" name="dsl:page-number|s=$caption"/>
          <p:cNvSpPr txBox="1"/>
          <p:nvPr/>
        </p:nvSpPr>
        <p:spPr>
          <a:xfrm>
            <a:off x="11430000" y="657225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30000"/>
              </a:lnSpc>
            </a:pPr>
            <a:r>
              <a:rPr sz="1050" noProof="1">
                <a:solidFill>
                  <a:srgbClr val="6B7B8C"/>
                </a:solidFill>
                <a:latin typeface="QuattrocentoSans"/>
                <a:ea typeface="Quattrocento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ar"/>
          <p:cNvSpPr/>
          <p:nvPr/>
        </p:nvSpPr>
        <p:spPr>
          <a:xfrm>
            <a:off x="0" y="0"/>
            <a:ext cx="12192000" cy="47625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1|s=$navText"/>
          <p:cNvSpPr txBox="1"/>
          <p:nvPr/>
        </p:nvSpPr>
        <p:spPr>
          <a:xfrm>
            <a:off x="0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Intro</a:t>
            </a:r>
          </a:p>
        </p:txBody>
      </p:sp>
      <p:sp>
        <p:nvSpPr>
          <p:cNvPr id="4" name="dsl:nav2|s=$navText"/>
          <p:cNvSpPr txBox="1"/>
          <p:nvPr/>
        </p:nvSpPr>
        <p:spPr>
          <a:xfrm>
            <a:off x="2028825" y="0"/>
            <a:ext cx="203835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Stack</a:t>
            </a:r>
          </a:p>
        </p:txBody>
      </p:sp>
      <p:sp>
        <p:nvSpPr>
          <p:cNvPr id="5" name="dsl:nav3|s=$navText"/>
          <p:cNvSpPr txBox="1"/>
          <p:nvPr/>
        </p:nvSpPr>
        <p:spPr>
          <a:xfrm>
            <a:off x="4067175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Backlog</a:t>
            </a:r>
          </a:p>
        </p:txBody>
      </p:sp>
      <p:sp>
        <p:nvSpPr>
          <p:cNvPr id="6" name="dsl:nav4|s=$navText"/>
          <p:cNvSpPr txBox="1"/>
          <p:nvPr/>
        </p:nvSpPr>
        <p:spPr>
          <a:xfrm>
            <a:off x="6096000" y="0"/>
            <a:ext cx="203835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Pipeline</a:t>
            </a:r>
          </a:p>
        </p:txBody>
      </p:sp>
      <p:sp>
        <p:nvSpPr>
          <p:cNvPr id="7" name="dsl:nav5|s=$navText"/>
          <p:cNvSpPr txBox="1"/>
          <p:nvPr/>
        </p:nvSpPr>
        <p:spPr>
          <a:xfrm>
            <a:off x="8134350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b="1" sz="1050" noProof="1">
                <a:solidFill>
                  <a:srgbClr val="FFFFFF"/>
                </a:solidFill>
                <a:latin typeface="QuattrocentoSans"/>
                <a:ea typeface="QuattrocentoSans"/>
              </a:rPr>
              <a:t>Vistas</a:t>
            </a:r>
          </a:p>
        </p:txBody>
      </p:sp>
      <p:sp>
        <p:nvSpPr>
          <p:cNvPr id="8" name="dsl:nav6|s=$navText"/>
          <p:cNvSpPr txBox="1"/>
          <p:nvPr/>
        </p:nvSpPr>
        <p:spPr>
          <a:xfrm>
            <a:off x="10163175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Arquitectura</a:t>
            </a:r>
          </a:p>
        </p:txBody>
      </p:sp>
      <p:sp>
        <p:nvSpPr>
          <p:cNvPr id="9" name="dsl:nav-accent"/>
          <p:cNvSpPr/>
          <p:nvPr/>
        </p:nvSpPr>
        <p:spPr>
          <a:xfrm>
            <a:off x="8134350" y="476250"/>
            <a:ext cx="2028825" cy="1905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title|s=$heading"/>
          <p:cNvSpPr txBox="1"/>
          <p:nvPr/>
        </p:nvSpPr>
        <p:spPr>
          <a:xfrm>
            <a:off x="571500" y="619125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2100" noProof="1">
                <a:solidFill>
                  <a:srgbClr val="0F2B46"/>
                </a:solidFill>
                <a:latin typeface="QuattrocentoSans"/>
                <a:ea typeface="QuattrocentoSans"/>
              </a:rPr>
              <a:t>Vista – Quiz Adaptativo</a:t>
            </a:r>
          </a:p>
        </p:txBody>
      </p:sp>
      <p:sp>
        <p:nvSpPr>
          <p:cNvPr id="11" name="dsl:title-line"/>
          <p:cNvSpPr/>
          <p:nvPr/>
        </p:nvSpPr>
        <p:spPr>
          <a:xfrm>
            <a:off x="571500" y="1047750"/>
            <a:ext cx="762000" cy="285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card1"/>
          <p:cNvSpPr/>
          <p:nvPr/>
        </p:nvSpPr>
        <p:spPr>
          <a:xfrm>
            <a:off x="571500" y="1238250"/>
            <a:ext cx="5143500" cy="36195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50800" dir="0">
              <a:srgbClr val="000000">
                <a:alpha val="8235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dsl:img1" descr="E:\PaginasQueHice\SIMAApp\output\playwright\07-quiz-active.png"/>
          <p:cNvPicPr>
            <a:picLocks noChangeAspect="1"/>
          </p:cNvPicPr>
          <p:nvPr/>
        </p:nvPicPr>
        <p:blipFill>
          <a:blip r:embed="rId2"/>
          <a:srcRect t="4861" b="4861"/>
          <a:stretch>
            <a:fillRect/>
          </a:stretch>
        </p:blipFill>
        <p:spPr>
          <a:xfrm>
            <a:off x="666750" y="1333500"/>
            <a:ext cx="4953000" cy="2857500"/>
          </a:xfrm>
          <a:prstGeom prst="roundRect">
            <a:avLst>
              <a:gd name="adj" fmla="val 2000"/>
            </a:avLst>
          </a:prstGeom>
          <a:ln>
            <a:noFill/>
          </a:ln>
          <a:effectLst/>
        </p:spPr>
      </p:pic>
      <p:sp>
        <p:nvSpPr>
          <p:cNvPr id="14" name="dsl:cap1|s=$caption"/>
          <p:cNvSpPr txBox="1"/>
          <p:nvPr/>
        </p:nvSpPr>
        <p:spPr>
          <a:xfrm>
            <a:off x="666750" y="4286250"/>
            <a:ext cx="4953000" cy="381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noProof="1">
                <a:solidFill>
                  <a:srgbClr val="6B7B8C"/>
                </a:solidFill>
                <a:latin typeface="QuattrocentoSans"/>
                <a:ea typeface="QuattrocentoSans"/>
              </a:rPr>
              <a:t>Quiz en ejecución con 4 alternativas y nivel Bloom</a:t>
            </a:r>
          </a:p>
        </p:txBody>
      </p:sp>
      <p:sp>
        <p:nvSpPr>
          <p:cNvPr id="15" name="dsl:card2"/>
          <p:cNvSpPr/>
          <p:nvPr/>
        </p:nvSpPr>
        <p:spPr>
          <a:xfrm>
            <a:off x="6000750" y="1238250"/>
            <a:ext cx="5143500" cy="36195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50800" dir="0">
              <a:srgbClr val="000000">
                <a:alpha val="8235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dsl:img2" descr="E:\PaginasQueHice\SIMAApp\output\playwright\08-quiz-result.png"/>
          <p:cNvPicPr>
            <a:picLocks noChangeAspect="1"/>
          </p:cNvPicPr>
          <p:nvPr/>
        </p:nvPicPr>
        <p:blipFill>
          <a:blip r:embed="rId3"/>
          <a:srcRect t="13871" b="13871"/>
          <a:stretch>
            <a:fillRect/>
          </a:stretch>
        </p:blipFill>
        <p:spPr>
          <a:xfrm>
            <a:off x="6096000" y="1333500"/>
            <a:ext cx="4953000" cy="2857500"/>
          </a:xfrm>
          <a:prstGeom prst="roundRect">
            <a:avLst>
              <a:gd name="adj" fmla="val 2000"/>
            </a:avLst>
          </a:prstGeom>
          <a:ln>
            <a:noFill/>
          </a:ln>
          <a:effectLst/>
        </p:spPr>
      </p:pic>
      <p:sp>
        <p:nvSpPr>
          <p:cNvPr id="17" name="dsl:cap2|s=$caption"/>
          <p:cNvSpPr txBox="1"/>
          <p:nvPr/>
        </p:nvSpPr>
        <p:spPr>
          <a:xfrm>
            <a:off x="6096000" y="4286250"/>
            <a:ext cx="4953000" cy="381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noProof="1">
                <a:solidFill>
                  <a:srgbClr val="6B7B8C"/>
                </a:solidFill>
                <a:latin typeface="QuattrocentoSans"/>
                <a:ea typeface="QuattrocentoSans"/>
              </a:rPr>
              <a:t>Resultado del quiz con precisión y nivel pedagógico</a:t>
            </a:r>
          </a:p>
        </p:txBody>
      </p:sp>
      <p:sp>
        <p:nvSpPr>
          <p:cNvPr id="18" name="dsl:note|s=$body"/>
          <p:cNvSpPr txBox="1"/>
          <p:nvPr/>
        </p:nvSpPr>
        <p:spPr>
          <a:xfrm>
            <a:off x="571500" y="5048250"/>
            <a:ext cx="110490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El </a:t>
            </a:r>
            <a:r>
              <a:rPr b="1" sz="1200" noProof="1">
                <a:solidFill>
                  <a:srgbClr val="1A1A2E"/>
                </a:solidFill>
                <a:latin typeface="QuattrocentoSans"/>
                <a:ea typeface="QuattrocentoSans"/>
              </a:rPr>
              <a:t>quiz adaptativo</a:t>
            </a: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 selecciona items por máxima información IRT. El banco descarta items que no tienen exactamente 4 alternativas. Tras cada respuesta se estima </a:t>
            </a:r>
            <a:r>
              <a:rPr b="1" sz="1200" noProof="1">
                <a:solidFill>
                  <a:srgbClr val="1A1A2E"/>
                </a:solidFill>
                <a:latin typeface="QuattrocentoSans"/>
                <a:ea typeface="QuattrocentoSans"/>
              </a:rPr>
              <a:t>theta</a:t>
            </a: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 y error estándar. El nivel pedagógico (1-7) se muestra de forma comprensible: Inicial, Básico, En desarrollo, Intermedio, Avanzado, Dominio y Experto.</a:t>
            </a:r>
          </a:p>
        </p:txBody>
      </p:sp>
      <p:sp>
        <p:nvSpPr>
          <p:cNvPr id="19" name="dsl:page-number|s=$caption"/>
          <p:cNvSpPr txBox="1"/>
          <p:nvPr/>
        </p:nvSpPr>
        <p:spPr>
          <a:xfrm>
            <a:off x="11430000" y="657225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30000"/>
              </a:lnSpc>
            </a:pPr>
            <a:r>
              <a:rPr sz="1050" noProof="1">
                <a:solidFill>
                  <a:srgbClr val="6B7B8C"/>
                </a:solidFill>
                <a:latin typeface="QuattrocentoSans"/>
                <a:ea typeface="Quattrocento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ar"/>
          <p:cNvSpPr/>
          <p:nvPr/>
        </p:nvSpPr>
        <p:spPr>
          <a:xfrm>
            <a:off x="0" y="0"/>
            <a:ext cx="12192000" cy="47625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1|s=$navText"/>
          <p:cNvSpPr txBox="1"/>
          <p:nvPr/>
        </p:nvSpPr>
        <p:spPr>
          <a:xfrm>
            <a:off x="0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Intro</a:t>
            </a:r>
          </a:p>
        </p:txBody>
      </p:sp>
      <p:sp>
        <p:nvSpPr>
          <p:cNvPr id="4" name="dsl:nav2|s=$navText"/>
          <p:cNvSpPr txBox="1"/>
          <p:nvPr/>
        </p:nvSpPr>
        <p:spPr>
          <a:xfrm>
            <a:off x="2028825" y="0"/>
            <a:ext cx="203835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Stack</a:t>
            </a:r>
          </a:p>
        </p:txBody>
      </p:sp>
      <p:sp>
        <p:nvSpPr>
          <p:cNvPr id="5" name="dsl:nav3|s=$navText"/>
          <p:cNvSpPr txBox="1"/>
          <p:nvPr/>
        </p:nvSpPr>
        <p:spPr>
          <a:xfrm>
            <a:off x="4067175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Backlog</a:t>
            </a:r>
          </a:p>
        </p:txBody>
      </p:sp>
      <p:sp>
        <p:nvSpPr>
          <p:cNvPr id="6" name="dsl:nav4|s=$navText"/>
          <p:cNvSpPr txBox="1"/>
          <p:nvPr/>
        </p:nvSpPr>
        <p:spPr>
          <a:xfrm>
            <a:off x="6096000" y="0"/>
            <a:ext cx="203835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Pipeline</a:t>
            </a:r>
          </a:p>
        </p:txBody>
      </p:sp>
      <p:sp>
        <p:nvSpPr>
          <p:cNvPr id="7" name="dsl:nav5|s=$navText"/>
          <p:cNvSpPr txBox="1"/>
          <p:nvPr/>
        </p:nvSpPr>
        <p:spPr>
          <a:xfrm>
            <a:off x="8134350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b="1" sz="1050" noProof="1">
                <a:solidFill>
                  <a:srgbClr val="FFFFFF"/>
                </a:solidFill>
                <a:latin typeface="QuattrocentoSans"/>
                <a:ea typeface="QuattrocentoSans"/>
              </a:rPr>
              <a:t>Vistas</a:t>
            </a:r>
          </a:p>
        </p:txBody>
      </p:sp>
      <p:sp>
        <p:nvSpPr>
          <p:cNvPr id="8" name="dsl:nav6|s=$navText"/>
          <p:cNvSpPr txBox="1"/>
          <p:nvPr/>
        </p:nvSpPr>
        <p:spPr>
          <a:xfrm>
            <a:off x="10163175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Arquitectura</a:t>
            </a:r>
          </a:p>
        </p:txBody>
      </p:sp>
      <p:sp>
        <p:nvSpPr>
          <p:cNvPr id="9" name="dsl:nav-accent"/>
          <p:cNvSpPr/>
          <p:nvPr/>
        </p:nvSpPr>
        <p:spPr>
          <a:xfrm>
            <a:off x="8134350" y="476250"/>
            <a:ext cx="2028825" cy="1905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title|s=$heading"/>
          <p:cNvSpPr txBox="1"/>
          <p:nvPr/>
        </p:nvSpPr>
        <p:spPr>
          <a:xfrm>
            <a:off x="571500" y="619125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2100" noProof="1">
                <a:solidFill>
                  <a:srgbClr val="0F2B46"/>
                </a:solidFill>
                <a:latin typeface="QuattrocentoSans"/>
                <a:ea typeface="QuattrocentoSans"/>
              </a:rPr>
              <a:t>Vista – Resultados y Seguimiento de Progreso</a:t>
            </a:r>
          </a:p>
        </p:txBody>
      </p:sp>
      <p:sp>
        <p:nvSpPr>
          <p:cNvPr id="11" name="dsl:title-line"/>
          <p:cNvSpPr/>
          <p:nvPr/>
        </p:nvSpPr>
        <p:spPr>
          <a:xfrm>
            <a:off x="571500" y="1047750"/>
            <a:ext cx="762000" cy="285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card1"/>
          <p:cNvSpPr/>
          <p:nvPr/>
        </p:nvSpPr>
        <p:spPr>
          <a:xfrm>
            <a:off x="571500" y="1238250"/>
            <a:ext cx="5143500" cy="36195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50800" dir="0">
              <a:srgbClr val="000000">
                <a:alpha val="8235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dsl:img1" descr="E:\PaginasQueHice\SIMAApp\output\playwright\quiz-results.png"/>
          <p:cNvPicPr>
            <a:picLocks noChangeAspect="1"/>
          </p:cNvPicPr>
          <p:nvPr/>
        </p:nvPicPr>
        <p:blipFill>
          <a:blip r:embed="rId2"/>
          <a:srcRect t="29314" b="29314"/>
          <a:stretch>
            <a:fillRect/>
          </a:stretch>
        </p:blipFill>
        <p:spPr>
          <a:xfrm>
            <a:off x="666750" y="1333500"/>
            <a:ext cx="4953000" cy="2857500"/>
          </a:xfrm>
          <a:prstGeom prst="roundRect">
            <a:avLst>
              <a:gd name="adj" fmla="val 2000"/>
            </a:avLst>
          </a:prstGeom>
          <a:ln>
            <a:noFill/>
          </a:ln>
          <a:effectLst/>
        </p:spPr>
      </p:pic>
      <p:sp>
        <p:nvSpPr>
          <p:cNvPr id="14" name="dsl:cap1|s=$caption"/>
          <p:cNvSpPr txBox="1"/>
          <p:nvPr/>
        </p:nvSpPr>
        <p:spPr>
          <a:xfrm>
            <a:off x="666750" y="4286250"/>
            <a:ext cx="4953000" cy="381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noProof="1">
                <a:solidFill>
                  <a:srgbClr val="6B7B8C"/>
                </a:solidFill>
                <a:latin typeface="QuattrocentoSans"/>
                <a:ea typeface="QuattrocentoSans"/>
              </a:rPr>
              <a:t>Resultados del quiz con precisión, XP y racha</a:t>
            </a:r>
          </a:p>
        </p:txBody>
      </p:sp>
      <p:sp>
        <p:nvSpPr>
          <p:cNvPr id="15" name="dsl:card2"/>
          <p:cNvSpPr/>
          <p:nvPr/>
        </p:nvSpPr>
        <p:spPr>
          <a:xfrm>
            <a:off x="6000750" y="1238250"/>
            <a:ext cx="5143500" cy="36195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50800" dir="0">
              <a:srgbClr val="000000">
                <a:alpha val="8235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dsl:img2" descr="E:\PaginasQueHice\SIMAApp\output\playwright\lesson-detail-with-history.png"/>
          <p:cNvPicPr>
            <a:picLocks noChangeAspect="1"/>
          </p:cNvPicPr>
          <p:nvPr/>
        </p:nvPicPr>
        <p:blipFill>
          <a:blip r:embed="rId3"/>
          <a:srcRect t="24215" b="24215"/>
          <a:stretch>
            <a:fillRect/>
          </a:stretch>
        </p:blipFill>
        <p:spPr>
          <a:xfrm>
            <a:off x="6096000" y="1333500"/>
            <a:ext cx="4953000" cy="2857500"/>
          </a:xfrm>
          <a:prstGeom prst="roundRect">
            <a:avLst>
              <a:gd name="adj" fmla="val 2000"/>
            </a:avLst>
          </a:prstGeom>
          <a:ln>
            <a:noFill/>
          </a:ln>
          <a:effectLst/>
        </p:spPr>
      </p:pic>
      <p:sp>
        <p:nvSpPr>
          <p:cNvPr id="17" name="dsl:cap2|s=$caption"/>
          <p:cNvSpPr txBox="1"/>
          <p:nvPr/>
        </p:nvSpPr>
        <p:spPr>
          <a:xfrm>
            <a:off x="6096000" y="4286250"/>
            <a:ext cx="4953000" cy="381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noProof="1">
                <a:solidFill>
                  <a:srgbClr val="6B7B8C"/>
                </a:solidFill>
                <a:latin typeface="QuattrocentoSans"/>
                <a:ea typeface="QuattrocentoSans"/>
              </a:rPr>
              <a:t>Detalle de clase con historial de intentos</a:t>
            </a:r>
          </a:p>
        </p:txBody>
      </p:sp>
      <p:sp>
        <p:nvSpPr>
          <p:cNvPr id="18" name="dsl:note|s=$body"/>
          <p:cNvSpPr txBox="1"/>
          <p:nvPr/>
        </p:nvSpPr>
        <p:spPr>
          <a:xfrm>
            <a:off x="571500" y="5048250"/>
            <a:ext cx="110490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El </a:t>
            </a:r>
            <a:r>
              <a:rPr b="1" sz="1200" noProof="1">
                <a:solidFill>
                  <a:srgbClr val="1A1A2E"/>
                </a:solidFill>
                <a:latin typeface="QuattrocentoSans"/>
                <a:ea typeface="QuattrocentoSans"/>
              </a:rPr>
              <a:t>seguimiento de progreso</a:t>
            </a: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 combina precisión, aciertos, XP, historial CAT y niveles Bloom respondidos. Se muestra el theta estimado, error estándar y nivel pedagógico. El sistema genera recomendaciones inteligentes: repasar temas con bajo acierto, completar flashcards para mantener racha, y resolver evaluaciones de dificultad ajustada.</a:t>
            </a:r>
          </a:p>
        </p:txBody>
      </p:sp>
      <p:sp>
        <p:nvSpPr>
          <p:cNvPr id="19" name="dsl:page-number|s=$caption"/>
          <p:cNvSpPr txBox="1"/>
          <p:nvPr/>
        </p:nvSpPr>
        <p:spPr>
          <a:xfrm>
            <a:off x="11430000" y="657225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30000"/>
              </a:lnSpc>
            </a:pPr>
            <a:r>
              <a:rPr sz="1050" noProof="1">
                <a:solidFill>
                  <a:srgbClr val="6B7B8C"/>
                </a:solidFill>
                <a:latin typeface="QuattrocentoSans"/>
                <a:ea typeface="Quattrocento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ar"/>
          <p:cNvSpPr/>
          <p:nvPr/>
        </p:nvSpPr>
        <p:spPr>
          <a:xfrm>
            <a:off x="0" y="0"/>
            <a:ext cx="12192000" cy="47625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1|s=$navText"/>
          <p:cNvSpPr txBox="1"/>
          <p:nvPr/>
        </p:nvSpPr>
        <p:spPr>
          <a:xfrm>
            <a:off x="0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Intro</a:t>
            </a:r>
          </a:p>
        </p:txBody>
      </p:sp>
      <p:sp>
        <p:nvSpPr>
          <p:cNvPr id="4" name="dsl:nav2|s=$navText"/>
          <p:cNvSpPr txBox="1"/>
          <p:nvPr/>
        </p:nvSpPr>
        <p:spPr>
          <a:xfrm>
            <a:off x="2028825" y="0"/>
            <a:ext cx="203835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Stack</a:t>
            </a:r>
          </a:p>
        </p:txBody>
      </p:sp>
      <p:sp>
        <p:nvSpPr>
          <p:cNvPr id="5" name="dsl:nav3|s=$navText"/>
          <p:cNvSpPr txBox="1"/>
          <p:nvPr/>
        </p:nvSpPr>
        <p:spPr>
          <a:xfrm>
            <a:off x="4067175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Backlog</a:t>
            </a:r>
          </a:p>
        </p:txBody>
      </p:sp>
      <p:sp>
        <p:nvSpPr>
          <p:cNvPr id="6" name="dsl:nav4|s=$navText"/>
          <p:cNvSpPr txBox="1"/>
          <p:nvPr/>
        </p:nvSpPr>
        <p:spPr>
          <a:xfrm>
            <a:off x="6096000" y="0"/>
            <a:ext cx="203835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Pipeline</a:t>
            </a:r>
          </a:p>
        </p:txBody>
      </p:sp>
      <p:sp>
        <p:nvSpPr>
          <p:cNvPr id="7" name="dsl:nav5|s=$navText"/>
          <p:cNvSpPr txBox="1"/>
          <p:nvPr/>
        </p:nvSpPr>
        <p:spPr>
          <a:xfrm>
            <a:off x="8134350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Vistas</a:t>
            </a:r>
          </a:p>
        </p:txBody>
      </p:sp>
      <p:sp>
        <p:nvSpPr>
          <p:cNvPr id="8" name="dsl:nav6|s=$navText"/>
          <p:cNvSpPr txBox="1"/>
          <p:nvPr/>
        </p:nvSpPr>
        <p:spPr>
          <a:xfrm>
            <a:off x="10163175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b="1" sz="1050" noProof="1">
                <a:solidFill>
                  <a:srgbClr val="FFFFFF"/>
                </a:solidFill>
                <a:latin typeface="QuattrocentoSans"/>
                <a:ea typeface="QuattrocentoSans"/>
              </a:rPr>
              <a:t>Arquitectura</a:t>
            </a:r>
          </a:p>
        </p:txBody>
      </p:sp>
      <p:sp>
        <p:nvSpPr>
          <p:cNvPr id="9" name="dsl:nav-accent"/>
          <p:cNvSpPr/>
          <p:nvPr/>
        </p:nvSpPr>
        <p:spPr>
          <a:xfrm>
            <a:off x="10163175" y="476250"/>
            <a:ext cx="2028825" cy="1905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title|s=$heading"/>
          <p:cNvSpPr txBox="1"/>
          <p:nvPr/>
        </p:nvSpPr>
        <p:spPr>
          <a:xfrm>
            <a:off x="571500" y="619125"/>
            <a:ext cx="9525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2100" noProof="1">
                <a:solidFill>
                  <a:srgbClr val="0F2B46"/>
                </a:solidFill>
                <a:latin typeface="QuattrocentoSans"/>
                <a:ea typeface="QuattrocentoSans"/>
              </a:rPr>
              <a:t>Arquitectura del Sistema – C4 Contenedores y Componentes</a:t>
            </a:r>
          </a:p>
        </p:txBody>
      </p:sp>
      <p:sp>
        <p:nvSpPr>
          <p:cNvPr id="11" name="dsl:title-line"/>
          <p:cNvSpPr/>
          <p:nvPr/>
        </p:nvSpPr>
        <p:spPr>
          <a:xfrm>
            <a:off x="571500" y="1047750"/>
            <a:ext cx="762000" cy="285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left-col|s=$body"/>
          <p:cNvSpPr txBox="1"/>
          <p:nvPr/>
        </p:nvSpPr>
        <p:spPr>
          <a:xfrm>
            <a:off x="571500" y="1238250"/>
            <a:ext cx="5334000" cy="2476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200" noProof="1">
                <a:solidFill>
                  <a:srgbClr val="1A1A2E"/>
                </a:solidFill>
                <a:latin typeface="QuattrocentoSans"/>
                <a:ea typeface="QuattrocentoSans"/>
              </a:rPr>
              <a:t>Contexto (C4 Nivel 1):</a:t>
            </a:r>
          </a:p>
          <a:p>
            <a:pPr algn="l" lvl="0" indent="-182879" marL="228600">
              <a:lnSpc>
                <a:spcPct val="150000"/>
              </a:lnSpc>
              <a:buChar char="•"/>
            </a:pP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Estudiante → sube clase, resuelve quiz, visualiza progreso</a:t>
            </a:r>
          </a:p>
          <a:p>
            <a:pPr algn="l" lvl="0" indent="-182879" marL="228600">
              <a:lnSpc>
                <a:spcPct val="150000"/>
              </a:lnSpc>
              <a:buChar char="•"/>
            </a:pP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SIMA → plataforma web de microaprendizaje</a:t>
            </a:r>
          </a:p>
          <a:p>
            <a:pPr algn="l" lvl="0" indent="-182879" marL="228600">
              <a:lnSpc>
                <a:spcPct val="150000"/>
              </a:lnSpc>
              <a:buChar char="•"/>
            </a:pP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Whisper local → transcripción automática de audio</a:t>
            </a:r>
          </a:p>
          <a:p>
            <a:pPr algn="l" lvl="0" indent="-182879" marL="228600">
              <a:lnSpc>
                <a:spcPct val="150000"/>
              </a:lnSpc>
              <a:buChar char="•"/>
            </a:pP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Qwen local (vía proxy) → generación y verificación con IA</a:t>
            </a:r>
          </a:p>
          <a:p>
            <a:pPr algn="l" lvl="0" indent="-182879" marL="228600">
              <a:lnSpc>
                <a:spcPct val="150000"/>
              </a:lnSpc>
              <a:buChar char="•"/>
            </a:pP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Buscador web (ddgs) → validación factual de contenido</a:t>
            </a:r>
          </a:p>
          <a:p>
            <a:pPr algn="l" lvl="0" indent="-182879" marL="228600">
              <a:lnSpc>
                <a:spcPct val="150000"/>
              </a:lnSpc>
              <a:buChar char="•"/>
            </a:pP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PostgreSQL / SQLite → persistencia de datos</a:t>
            </a:r>
          </a:p>
        </p:txBody>
      </p:sp>
      <p:sp>
        <p:nvSpPr>
          <p:cNvPr id="13" name="dsl:right-col|s=$body"/>
          <p:cNvSpPr txBox="1"/>
          <p:nvPr/>
        </p:nvSpPr>
        <p:spPr>
          <a:xfrm>
            <a:off x="6286500" y="1238250"/>
            <a:ext cx="5334000" cy="2476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200" noProof="1">
                <a:solidFill>
                  <a:srgbClr val="1A1A2E"/>
                </a:solidFill>
                <a:latin typeface="QuattrocentoSans"/>
                <a:ea typeface="QuattrocentoSans"/>
              </a:rPr>
              <a:t>Contenedores (C4 Nivel 2):</a:t>
            </a:r>
          </a:p>
          <a:p>
            <a:pPr algn="l" lvl="0" indent="-182879" marL="228600">
              <a:lnSpc>
                <a:spcPct val="150000"/>
              </a:lnSpc>
              <a:buChar char="•"/>
            </a:pP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Interfaz web (Django templates + JS)</a:t>
            </a:r>
          </a:p>
          <a:p>
            <a:pPr algn="l" lvl="0" indent="-182879" marL="228600">
              <a:lnSpc>
                <a:spcPct val="150000"/>
              </a:lnSpc>
              <a:buChar char="•"/>
            </a:pP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Backend Django (vistas, modelos, API REST)</a:t>
            </a:r>
          </a:p>
          <a:p>
            <a:pPr algn="l" lvl="0" indent="-182879" marL="228600">
              <a:lnSpc>
                <a:spcPct val="150000"/>
              </a:lnSpc>
              <a:buChar char="•"/>
            </a:pP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Cola local de procesamiento</a:t>
            </a:r>
          </a:p>
          <a:p>
            <a:pPr algn="l" lvl="0" indent="-182879" marL="228600">
              <a:lnSpc>
                <a:spcPct val="150000"/>
              </a:lnSpc>
              <a:buChar char="•"/>
            </a:pP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Servicios de IA (proxy Node → llama-server)</a:t>
            </a:r>
          </a:p>
          <a:p>
            <a:pPr algn="l" lvl="0" indent="-182879" marL="228600">
              <a:lnSpc>
                <a:spcPct val="150000"/>
              </a:lnSpc>
              <a:buChar char="•"/>
            </a:pP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Persistencia (PostgreSQL + SQLite dev)</a:t>
            </a:r>
          </a:p>
        </p:txBody>
      </p:sp>
      <p:sp>
        <p:nvSpPr>
          <p:cNvPr id="14" name="dsl:bottom-col|s=$body"/>
          <p:cNvSpPr txBox="1"/>
          <p:nvPr/>
        </p:nvSpPr>
        <p:spPr>
          <a:xfrm>
            <a:off x="571500" y="3905250"/>
            <a:ext cx="11049000" cy="2095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200" noProof="1">
                <a:solidFill>
                  <a:srgbClr val="1A1A2E"/>
                </a:solidFill>
                <a:latin typeface="QuattrocentoSans"/>
                <a:ea typeface="QuattrocentoSans"/>
              </a:rPr>
              <a:t>Componentes internos clave (C4 Nivel 3):</a:t>
            </a:r>
          </a:p>
          <a:p>
            <a:pPr algn="l" lvl="0" indent="-182879" marL="228600">
              <a:lnSpc>
                <a:spcPct val="150000"/>
              </a:lnSpc>
              <a:buChar char="•"/>
            </a:pPr>
            <a:r>
              <a:rPr b="1" sz="1200" noProof="1">
                <a:solidFill>
                  <a:srgbClr val="1A1A2E"/>
                </a:solidFill>
                <a:latin typeface="QuattrocentoSans"/>
                <a:ea typeface="QuattrocentoSans"/>
              </a:rPr>
              <a:t>Generación:</a:t>
            </a: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 prompts MINI, parseo de respuestas, recuperación de incoherencias</a:t>
            </a:r>
          </a:p>
          <a:p>
            <a:pPr algn="l" lvl="0" indent="-182879" marL="228600">
              <a:lnSpc>
                <a:spcPct val="150000"/>
              </a:lnSpc>
              <a:buChar char="•"/>
            </a:pPr>
            <a:r>
              <a:rPr b="1" sz="1200" noProof="1">
                <a:solidFill>
                  <a:srgbClr val="1A1A2E"/>
                </a:solidFill>
                <a:latin typeface="QuattrocentoSans"/>
                <a:ea typeface="QuattrocentoSans"/>
              </a:rPr>
              <a:t>Verificación:</a:t>
            </a: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 extracción de claims, consultas web, reporte eN con URLs y snippets</a:t>
            </a:r>
          </a:p>
          <a:p>
            <a:pPr algn="l" lvl="0" indent="-182879" marL="228600">
              <a:lnSpc>
                <a:spcPct val="150000"/>
              </a:lnSpc>
              <a:buChar char="•"/>
            </a:pPr>
            <a:r>
              <a:rPr b="1" sz="1200" noProof="1">
                <a:solidFill>
                  <a:srgbClr val="1A1A2E"/>
                </a:solidFill>
                <a:latin typeface="QuattrocentoSans"/>
                <a:ea typeface="QuattrocentoSans"/>
              </a:rPr>
              <a:t>Parseo MINI:</a:t>
            </a: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 conversión de formato .mini a JSON estructurado para el banco de items</a:t>
            </a:r>
          </a:p>
          <a:p>
            <a:pPr algn="l" lvl="0" indent="-182879" marL="228600">
              <a:lnSpc>
                <a:spcPct val="150000"/>
              </a:lnSpc>
              <a:buChar char="•"/>
            </a:pPr>
            <a:r>
              <a:rPr b="1" sz="1200" noProof="1">
                <a:solidFill>
                  <a:srgbClr val="1A1A2E"/>
                </a:solidFill>
                <a:latin typeface="QuattrocentoSans"/>
                <a:ea typeface="QuattrocentoSans"/>
              </a:rPr>
              <a:t>CAT / IRT:</a:t>
            </a: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 filtro de 4 alternativas, selección por máxima información, estimación theta</a:t>
            </a:r>
          </a:p>
          <a:p>
            <a:pPr algn="l" lvl="0" indent="-182879" marL="228600">
              <a:lnSpc>
                <a:spcPct val="150000"/>
              </a:lnSpc>
              <a:buChar char="•"/>
            </a:pPr>
            <a:r>
              <a:rPr b="1" sz="1200" noProof="1">
                <a:solidFill>
                  <a:srgbClr val="1A1A2E"/>
                </a:solidFill>
                <a:latin typeface="QuattrocentoSans"/>
                <a:ea typeface="QuattrocentoSans"/>
              </a:rPr>
              <a:t>Progreso:</a:t>
            </a: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 registro de respuestas, cálculo de precisión, XP, rachas y niveles pedagógicos</a:t>
            </a: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Los diagramas C4 completos fueron presentados en el </a:t>
            </a:r>
            <a:r>
              <a:rPr b="1" sz="1200" noProof="1">
                <a:solidFill>
                  <a:srgbClr val="1A1A2E"/>
                </a:solidFill>
                <a:latin typeface="QuattrocentoSans"/>
                <a:ea typeface="QuattrocentoSans"/>
              </a:rPr>
              <a:t>OE2</a:t>
            </a: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 como parte del diseño arquitectónico.</a:t>
            </a:r>
          </a:p>
        </p:txBody>
      </p:sp>
      <p:sp>
        <p:nvSpPr>
          <p:cNvPr id="15" name="dsl:page-number|s=$caption"/>
          <p:cNvSpPr txBox="1"/>
          <p:nvPr/>
        </p:nvSpPr>
        <p:spPr>
          <a:xfrm>
            <a:off x="11430000" y="657225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30000"/>
              </a:lnSpc>
            </a:pPr>
            <a:r>
              <a:rPr sz="1050" noProof="1">
                <a:solidFill>
                  <a:srgbClr val="6B7B8C"/>
                </a:solidFill>
                <a:latin typeface="QuattrocentoSans"/>
                <a:ea typeface="Quattrocento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ar"/>
          <p:cNvSpPr/>
          <p:nvPr/>
        </p:nvSpPr>
        <p:spPr>
          <a:xfrm>
            <a:off x="0" y="0"/>
            <a:ext cx="12192000" cy="47625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1|s=$navText"/>
          <p:cNvSpPr txBox="1"/>
          <p:nvPr/>
        </p:nvSpPr>
        <p:spPr>
          <a:xfrm>
            <a:off x="0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Intro</a:t>
            </a:r>
          </a:p>
        </p:txBody>
      </p:sp>
      <p:sp>
        <p:nvSpPr>
          <p:cNvPr id="4" name="dsl:nav2|s=$navText"/>
          <p:cNvSpPr txBox="1"/>
          <p:nvPr/>
        </p:nvSpPr>
        <p:spPr>
          <a:xfrm>
            <a:off x="2028825" y="0"/>
            <a:ext cx="203835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Stack</a:t>
            </a:r>
          </a:p>
        </p:txBody>
      </p:sp>
      <p:sp>
        <p:nvSpPr>
          <p:cNvPr id="5" name="dsl:nav3|s=$navText"/>
          <p:cNvSpPr txBox="1"/>
          <p:nvPr/>
        </p:nvSpPr>
        <p:spPr>
          <a:xfrm>
            <a:off x="4067175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Backlog</a:t>
            </a:r>
          </a:p>
        </p:txBody>
      </p:sp>
      <p:sp>
        <p:nvSpPr>
          <p:cNvPr id="6" name="dsl:nav4|s=$navText"/>
          <p:cNvSpPr txBox="1"/>
          <p:nvPr/>
        </p:nvSpPr>
        <p:spPr>
          <a:xfrm>
            <a:off x="6096000" y="0"/>
            <a:ext cx="203835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Pipeline</a:t>
            </a:r>
          </a:p>
        </p:txBody>
      </p:sp>
      <p:sp>
        <p:nvSpPr>
          <p:cNvPr id="7" name="dsl:nav5|s=$navText"/>
          <p:cNvSpPr txBox="1"/>
          <p:nvPr/>
        </p:nvSpPr>
        <p:spPr>
          <a:xfrm>
            <a:off x="8134350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Vistas</a:t>
            </a:r>
          </a:p>
        </p:txBody>
      </p:sp>
      <p:sp>
        <p:nvSpPr>
          <p:cNvPr id="8" name="dsl:nav6|s=$navText"/>
          <p:cNvSpPr txBox="1"/>
          <p:nvPr/>
        </p:nvSpPr>
        <p:spPr>
          <a:xfrm>
            <a:off x="10163175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b="1" sz="1050" noProof="1">
                <a:solidFill>
                  <a:srgbClr val="FFFFFF"/>
                </a:solidFill>
                <a:latin typeface="QuattrocentoSans"/>
                <a:ea typeface="QuattrocentoSans"/>
              </a:rPr>
              <a:t>Arquitectura</a:t>
            </a:r>
          </a:p>
        </p:txBody>
      </p:sp>
      <p:sp>
        <p:nvSpPr>
          <p:cNvPr id="9" name="dsl:nav-accent"/>
          <p:cNvSpPr/>
          <p:nvPr/>
        </p:nvSpPr>
        <p:spPr>
          <a:xfrm>
            <a:off x="10163175" y="476250"/>
            <a:ext cx="2028825" cy="1905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title|s=$heading"/>
          <p:cNvSpPr txBox="1"/>
          <p:nvPr/>
        </p:nvSpPr>
        <p:spPr>
          <a:xfrm>
            <a:off x="571500" y="619125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2100" noProof="1">
                <a:solidFill>
                  <a:srgbClr val="0F2B46"/>
                </a:solidFill>
                <a:latin typeface="QuattrocentoSans"/>
                <a:ea typeface="QuattrocentoSans"/>
              </a:rPr>
              <a:t>Evaluación Adaptativa con IRT 3PL</a:t>
            </a:r>
          </a:p>
        </p:txBody>
      </p:sp>
      <p:sp>
        <p:nvSpPr>
          <p:cNvPr id="11" name="dsl:title-line"/>
          <p:cNvSpPr/>
          <p:nvPr/>
        </p:nvSpPr>
        <p:spPr>
          <a:xfrm>
            <a:off x="571500" y="1047750"/>
            <a:ext cx="762000" cy="285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left-text|s=$body"/>
          <p:cNvSpPr txBox="1"/>
          <p:nvPr/>
        </p:nvSpPr>
        <p:spPr>
          <a:xfrm>
            <a:off x="571500" y="1238250"/>
            <a:ext cx="5715000" cy="2857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200" noProof="1">
                <a:solidFill>
                  <a:srgbClr val="1A1A2E"/>
                </a:solidFill>
                <a:latin typeface="QuattrocentoSans"/>
                <a:ea typeface="QuattrocentoSans"/>
              </a:rPr>
              <a:t>Modelo IRT 3PL propio:</a:t>
            </a:r>
          </a:p>
          <a:p>
            <a:pPr algn="l" lvl="0" indent="-182879" marL="228600">
              <a:lnSpc>
                <a:spcPct val="150000"/>
              </a:lnSpc>
              <a:buChar char="•"/>
            </a:pPr>
            <a:r>
              <a:rPr b="1" sz="1200" noProof="1">
                <a:solidFill>
                  <a:srgbClr val="1A1A2E"/>
                </a:solidFill>
                <a:latin typeface="QuattrocentoSans"/>
                <a:ea typeface="QuattrocentoSans"/>
              </a:rPr>
              <a:t>a</a:t>
            </a: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 (discriminación): qué tan bien el item distingue entre niveles</a:t>
            </a:r>
          </a:p>
          <a:p>
            <a:pPr algn="l" lvl="0" indent="-182879" marL="228600">
              <a:lnSpc>
                <a:spcPct val="150000"/>
              </a:lnSpc>
              <a:buChar char="•"/>
            </a:pPr>
            <a:r>
              <a:rPr b="1" sz="1200" noProof="1">
                <a:solidFill>
                  <a:srgbClr val="1A1A2E"/>
                </a:solidFill>
                <a:latin typeface="QuattrocentoSans"/>
                <a:ea typeface="QuattrocentoSans"/>
              </a:rPr>
              <a:t>b</a:t>
            </a: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 (dificultad): nivel de habilidad donde el item es más informativo</a:t>
            </a:r>
          </a:p>
          <a:p>
            <a:pPr algn="l" lvl="0" indent="-182879" marL="228600">
              <a:lnSpc>
                <a:spcPct val="150000"/>
              </a:lnSpc>
              <a:buChar char="•"/>
            </a:pPr>
            <a:r>
              <a:rPr b="1" sz="1200" noProof="1">
                <a:solidFill>
                  <a:srgbClr val="1A1A2E"/>
                </a:solidFill>
                <a:latin typeface="QuattrocentoSans"/>
                <a:ea typeface="QuattrocentoSans"/>
              </a:rPr>
              <a:t>c</a:t>
            </a: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 (azar): probabilidad de acertar por adivinación</a:t>
            </a:r>
          </a:p>
          <a:p>
            <a:pPr algn="l">
              <a:lnSpc>
                <a:spcPct val="150000"/>
              </a:lnSpc>
              <a:spcBef>
                <a:spcPts val="750"/>
              </a:spcBef>
            </a:pP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Tras cada respuesta se estima </a:t>
            </a:r>
            <a:r>
              <a:rPr b="1" sz="1200" noProof="1">
                <a:solidFill>
                  <a:srgbClr val="1A1A2E"/>
                </a:solidFill>
                <a:latin typeface="QuattrocentoSans"/>
                <a:ea typeface="QuattrocentoSans"/>
              </a:rPr>
              <a:t>theta</a:t>
            </a: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 (habilidad latente, -3 a +3) y </a:t>
            </a:r>
            <a:r>
              <a:rPr b="1" sz="1200" noProof="1">
                <a:solidFill>
                  <a:srgbClr val="1A1A2E"/>
                </a:solidFill>
                <a:latin typeface="QuattrocentoSans"/>
                <a:ea typeface="QuattrocentoSans"/>
              </a:rPr>
              <a:t>error estándar</a:t>
            </a: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. La siguiente pregunta se elige por </a:t>
            </a:r>
            <a:r>
              <a:rPr b="1" sz="1200" noProof="1">
                <a:solidFill>
                  <a:srgbClr val="1A1A2E"/>
                </a:solidFill>
                <a:latin typeface="QuattrocentoSans"/>
                <a:ea typeface="QuattrocentoSans"/>
              </a:rPr>
              <a:t>máxima información</a:t>
            </a: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 para el theta actual.</a:t>
            </a:r>
          </a:p>
        </p:txBody>
      </p:sp>
      <p:sp>
        <p:nvSpPr>
          <p:cNvPr id="13" name="dsl:right-card"/>
          <p:cNvSpPr/>
          <p:nvPr/>
        </p:nvSpPr>
        <p:spPr>
          <a:xfrm>
            <a:off x="6667500" y="1238250"/>
            <a:ext cx="4762500" cy="28575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right-text|s=$body"/>
          <p:cNvSpPr txBox="1"/>
          <p:nvPr/>
        </p:nvSpPr>
        <p:spPr>
          <a:xfrm>
            <a:off x="6858000" y="1428750"/>
            <a:ext cx="4381500" cy="2476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200" noProof="1">
                <a:solidFill>
                  <a:srgbClr val="1A1A2E"/>
                </a:solidFill>
                <a:latin typeface="QuattrocentoSans"/>
                <a:ea typeface="QuattrocentoSans"/>
              </a:rPr>
              <a:t>Mapeo theta → Nivel pedagógico:</a:t>
            </a:r>
          </a:p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Nivel 1</a:t>
            </a: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Inicial</a:t>
            </a: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theta ≤ -2</a:t>
            </a: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Nivel 2</a:t>
            </a: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Básico</a:t>
            </a: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-2 a -1.5</a:t>
            </a: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Nivel 3</a:t>
            </a: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En desarrollo</a:t>
            </a: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-1.5 a -0.5</a:t>
            </a: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Nivel 4</a:t>
            </a: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Intermedio</a:t>
            </a: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-0.5 a +0.5</a:t>
            </a: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Nivel 5</a:t>
            </a: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Avanzado</a:t>
            </a: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+0.5 a +1.5</a:t>
            </a: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Nivel 6</a:t>
            </a: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Dominio</a:t>
            </a: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+1.5 a +2</a:t>
            </a: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Nivel 7</a:t>
            </a: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Experto</a:t>
            </a: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theta ≥ +2</a:t>
            </a:r>
          </a:p>
          <a:p>
            <a:pPr algn="l">
              <a:lnSpc>
                <a:spcPct val="150000"/>
              </a:lnSpc>
              <a:spcBef>
                <a:spcPts val="750"/>
              </a:spcBef>
            </a:pP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El </a:t>
            </a:r>
            <a:r>
              <a:rPr b="1" sz="1200" noProof="1">
                <a:solidFill>
                  <a:srgbClr val="1A1A2E"/>
                </a:solidFill>
                <a:latin typeface="QuattrocentoSans"/>
                <a:ea typeface="QuattrocentoSans"/>
              </a:rPr>
              <a:t>banco de items</a:t>
            </a: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 filtra únicamente aquellos con exactamente 4 alternativas, descartando items incompletos o mal formados.</a:t>
            </a:r>
          </a:p>
        </p:txBody>
      </p:sp>
      <p:sp>
        <p:nvSpPr>
          <p:cNvPr id="15" name="dsl:page-number|s=$caption"/>
          <p:cNvSpPr txBox="1"/>
          <p:nvPr/>
        </p:nvSpPr>
        <p:spPr>
          <a:xfrm>
            <a:off x="11430000" y="657225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30000"/>
              </a:lnSpc>
            </a:pPr>
            <a:r>
              <a:rPr sz="1050" noProof="1">
                <a:solidFill>
                  <a:srgbClr val="6B7B8C"/>
                </a:solidFill>
                <a:latin typeface="QuattrocentoSans"/>
                <a:ea typeface="QuattrocentoSan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ar"/>
          <p:cNvSpPr/>
          <p:nvPr/>
        </p:nvSpPr>
        <p:spPr>
          <a:xfrm>
            <a:off x="0" y="0"/>
            <a:ext cx="12192000" cy="47625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1|s=$navText"/>
          <p:cNvSpPr txBox="1"/>
          <p:nvPr/>
        </p:nvSpPr>
        <p:spPr>
          <a:xfrm>
            <a:off x="0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Intro</a:t>
            </a:r>
          </a:p>
        </p:txBody>
      </p:sp>
      <p:sp>
        <p:nvSpPr>
          <p:cNvPr id="4" name="dsl:nav2|s=$navText"/>
          <p:cNvSpPr txBox="1"/>
          <p:nvPr/>
        </p:nvSpPr>
        <p:spPr>
          <a:xfrm>
            <a:off x="2028825" y="0"/>
            <a:ext cx="203835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Stack</a:t>
            </a:r>
          </a:p>
        </p:txBody>
      </p:sp>
      <p:sp>
        <p:nvSpPr>
          <p:cNvPr id="5" name="dsl:nav3|s=$navText"/>
          <p:cNvSpPr txBox="1"/>
          <p:nvPr/>
        </p:nvSpPr>
        <p:spPr>
          <a:xfrm>
            <a:off x="4067175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Backlog</a:t>
            </a:r>
          </a:p>
        </p:txBody>
      </p:sp>
      <p:sp>
        <p:nvSpPr>
          <p:cNvPr id="6" name="dsl:nav4|s=$navText"/>
          <p:cNvSpPr txBox="1"/>
          <p:nvPr/>
        </p:nvSpPr>
        <p:spPr>
          <a:xfrm>
            <a:off x="6096000" y="0"/>
            <a:ext cx="203835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Pipeline</a:t>
            </a:r>
          </a:p>
        </p:txBody>
      </p:sp>
      <p:sp>
        <p:nvSpPr>
          <p:cNvPr id="7" name="dsl:nav5|s=$navText"/>
          <p:cNvSpPr txBox="1"/>
          <p:nvPr/>
        </p:nvSpPr>
        <p:spPr>
          <a:xfrm>
            <a:off x="8134350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Vistas</a:t>
            </a:r>
          </a:p>
        </p:txBody>
      </p:sp>
      <p:sp>
        <p:nvSpPr>
          <p:cNvPr id="8" name="dsl:nav6|s=$navText"/>
          <p:cNvSpPr txBox="1"/>
          <p:nvPr/>
        </p:nvSpPr>
        <p:spPr>
          <a:xfrm>
            <a:off x="10163175" y="0"/>
            <a:ext cx="2028825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b="1" sz="1050" noProof="1">
                <a:solidFill>
                  <a:srgbClr val="FFFFFF"/>
                </a:solidFill>
                <a:latin typeface="QuattrocentoSans"/>
                <a:ea typeface="QuattrocentoSans"/>
              </a:rPr>
              <a:t>Arquitectura</a:t>
            </a:r>
          </a:p>
        </p:txBody>
      </p:sp>
      <p:sp>
        <p:nvSpPr>
          <p:cNvPr id="9" name="dsl:nav-accent"/>
          <p:cNvSpPr/>
          <p:nvPr/>
        </p:nvSpPr>
        <p:spPr>
          <a:xfrm>
            <a:off x="10163175" y="476250"/>
            <a:ext cx="2028825" cy="1905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title|s=$heading"/>
          <p:cNvSpPr txBox="1"/>
          <p:nvPr/>
        </p:nvSpPr>
        <p:spPr>
          <a:xfrm>
            <a:off x="571500" y="619125"/>
            <a:ext cx="10477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2100" noProof="1">
                <a:solidFill>
                  <a:srgbClr val="0F2B46"/>
                </a:solidFill>
                <a:latin typeface="QuattrocentoSans"/>
                <a:ea typeface="QuattrocentoSans"/>
              </a:rPr>
              <a:t>Futuro del Desarrollo y Validación en OE4</a:t>
            </a:r>
          </a:p>
        </p:txBody>
      </p:sp>
      <p:sp>
        <p:nvSpPr>
          <p:cNvPr id="11" name="dsl:title-line"/>
          <p:cNvSpPr/>
          <p:nvPr/>
        </p:nvSpPr>
        <p:spPr>
          <a:xfrm>
            <a:off x="571500" y="1047750"/>
            <a:ext cx="762000" cy="285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left-title"/>
          <p:cNvSpPr txBox="1"/>
          <p:nvPr/>
        </p:nvSpPr>
        <p:spPr>
          <a:xfrm>
            <a:off x="571500" y="1190625"/>
            <a:ext cx="5143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500" noProof="1">
                <a:solidFill>
                  <a:srgbClr val="0F2B46"/>
                </a:solidFill>
                <a:latin typeface="QuattrocentoSans"/>
                <a:ea typeface="QuattrocentoSans"/>
              </a:rPr>
              <a:t>Lo que falta a futuro</a:t>
            </a:r>
          </a:p>
        </p:txBody>
      </p:sp>
      <p:sp>
        <p:nvSpPr>
          <p:cNvPr id="13" name="dsl:left-text|s=$body"/>
          <p:cNvSpPr txBox="1"/>
          <p:nvPr/>
        </p:nvSpPr>
        <p:spPr>
          <a:xfrm>
            <a:off x="571500" y="1524000"/>
            <a:ext cx="5143500" cy="4381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182879" marL="228600">
              <a:lnSpc>
                <a:spcPct val="150000"/>
              </a:lnSpc>
              <a:buChar char="•"/>
            </a:pP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Implementar creación de cursos con campos completos</a:t>
            </a:r>
          </a:p>
          <a:p>
            <a:pPr algn="l" lvl="0" indent="-182879" marL="228600">
              <a:lnSpc>
                <a:spcPct val="150000"/>
              </a:lnSpc>
              <a:buChar char="•"/>
            </a:pP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Asociar cada clase subida a un curso específico</a:t>
            </a:r>
          </a:p>
          <a:p>
            <a:pPr algn="l" lvl="0" indent="-182879" marL="228600">
              <a:lnSpc>
                <a:spcPct val="150000"/>
              </a:lnSpc>
              <a:buChar char="•"/>
            </a:pP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Guardar progreso por curso (no solo global)</a:t>
            </a:r>
          </a:p>
          <a:p>
            <a:pPr algn="l" lvl="0" indent="-182879" marL="228600">
              <a:lnSpc>
                <a:spcPct val="150000"/>
              </a:lnSpc>
              <a:buChar char="•"/>
            </a:pP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Añadir parser .mini a JSON con JavaScript puro</a:t>
            </a:r>
          </a:p>
          <a:p>
            <a:pPr algn="l" lvl="0" indent="-182879" marL="228600">
              <a:lnSpc>
                <a:spcPct val="150000"/>
              </a:lnSpc>
              <a:buChar char="•"/>
            </a:pP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Generar resúmenes automáticos además de quizzes</a:t>
            </a:r>
          </a:p>
          <a:p>
            <a:pPr algn="l" lvl="0" indent="-182879" marL="228600">
              <a:lnSpc>
                <a:spcPct val="150000"/>
              </a:lnSpc>
              <a:buChar char="•"/>
            </a:pP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Implementar racha diaria y gamificación (XP, insignias)</a:t>
            </a:r>
          </a:p>
          <a:p>
            <a:pPr algn="l" lvl="0" indent="-182879" marL="228600">
              <a:lnSpc>
                <a:spcPct val="150000"/>
              </a:lnSpc>
              <a:buChar char="•"/>
            </a:pP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Crear dashboard completo del estudiante</a:t>
            </a:r>
          </a:p>
          <a:p>
            <a:pPr algn="l" lvl="0" indent="-182879" marL="228600">
              <a:lnSpc>
                <a:spcPct val="150000"/>
              </a:lnSpc>
              <a:buChar char="•"/>
            </a:pP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Añadir retroalimentación personalizada post-quiz</a:t>
            </a:r>
          </a:p>
          <a:p>
            <a:pPr algn="l" lvl="0" indent="-182879" marL="228600">
              <a:lnSpc>
                <a:spcPct val="150000"/>
              </a:lnSpc>
              <a:buChar char="•"/>
            </a:pP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Implementar niveles Bloom visibles en cada pregunta</a:t>
            </a:r>
          </a:p>
          <a:p>
            <a:pPr algn="l" lvl="0" indent="-182879" marL="228600">
              <a:lnSpc>
                <a:spcPct val="150000"/>
              </a:lnSpc>
              <a:buChar char="•"/>
            </a:pP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Preparar base para evaluación adaptativa por curso</a:t>
            </a:r>
          </a:p>
        </p:txBody>
      </p:sp>
      <p:sp>
        <p:nvSpPr>
          <p:cNvPr id="14" name="dsl:right-title"/>
          <p:cNvSpPr txBox="1"/>
          <p:nvPr/>
        </p:nvSpPr>
        <p:spPr>
          <a:xfrm>
            <a:off x="6096000" y="1190625"/>
            <a:ext cx="5524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500" noProof="1">
                <a:solidFill>
                  <a:srgbClr val="0F2B46"/>
                </a:solidFill>
                <a:latin typeface="QuattrocentoSans"/>
                <a:ea typeface="QuattrocentoSans"/>
              </a:rPr>
              <a:t>Validación OE4</a:t>
            </a:r>
          </a:p>
        </p:txBody>
      </p:sp>
      <p:sp>
        <p:nvSpPr>
          <p:cNvPr id="15" name="dsl:right-text|s=$body"/>
          <p:cNvSpPr txBox="1"/>
          <p:nvPr/>
        </p:nvSpPr>
        <p:spPr>
          <a:xfrm>
            <a:off x="6096000" y="1524000"/>
            <a:ext cx="5524500" cy="4381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200" noProof="1">
                <a:solidFill>
                  <a:srgbClr val="1A1A2E"/>
                </a:solidFill>
                <a:latin typeface="QuattrocentoSans"/>
                <a:ea typeface="QuattrocentoSans"/>
              </a:rPr>
              <a:t>Pruebas funcionales e integración:</a:t>
            </a:r>
          </a:p>
          <a:p>
            <a:pPr algn="l" lvl="0" indent="-182879" marL="228600">
              <a:lnSpc>
                <a:spcPct val="150000"/>
              </a:lnSpc>
              <a:buChar char="•"/>
            </a:pP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≥ 15 casos de prueba ejecutados</a:t>
            </a:r>
          </a:p>
          <a:p>
            <a:pPr algn="l" lvl="0" indent="-182879" marL="228600">
              <a:lnSpc>
                <a:spcPct val="150000"/>
              </a:lnSpc>
              <a:buChar char="•"/>
            </a:pP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≥ 85% de casos superados exitosamente</a:t>
            </a:r>
          </a:p>
          <a:p>
            <a:pPr algn="l">
              <a:lnSpc>
                <a:spcPct val="150000"/>
              </a:lnSpc>
              <a:spcBef>
                <a:spcPts val="750"/>
              </a:spcBef>
            </a:pPr>
            <a:r>
              <a:rPr b="1" sz="1200" noProof="1">
                <a:solidFill>
                  <a:srgbClr val="1A1A2E"/>
                </a:solidFill>
                <a:latin typeface="QuattrocentoSans"/>
                <a:ea typeface="QuattrocentoSans"/>
              </a:rPr>
              <a:t>Métricas automáticas de desempeño:</a:t>
            </a:r>
          </a:p>
          <a:p>
            <a:pPr algn="l" lvl="0" indent="-182879" marL="228600">
              <a:lnSpc>
                <a:spcPct val="150000"/>
              </a:lnSpc>
              <a:buChar char="•"/>
            </a:pP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Precisión de transcripción ≥ 85%</a:t>
            </a:r>
          </a:p>
          <a:p>
            <a:pPr algn="l" lvl="0" indent="-182879" marL="228600">
              <a:lnSpc>
                <a:spcPct val="150000"/>
              </a:lnSpc>
              <a:buChar char="•"/>
            </a:pP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Tiempo de procesamiento por sesión ≤ X min</a:t>
            </a:r>
          </a:p>
          <a:p>
            <a:pPr algn="l" lvl="0" indent="-182879" marL="228600">
              <a:lnSpc>
                <a:spcPct val="150000"/>
              </a:lnSpc>
              <a:buChar char="•"/>
            </a:pP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Calidad de generación de contenido (NLP) ≥ 80%</a:t>
            </a:r>
          </a:p>
          <a:p>
            <a:pPr algn="l">
              <a:lnSpc>
                <a:spcPct val="150000"/>
              </a:lnSpc>
              <a:spcBef>
                <a:spcPts val="750"/>
              </a:spcBef>
            </a:pPr>
            <a:r>
              <a:rPr b="1" sz="1200" noProof="1">
                <a:solidFill>
                  <a:srgbClr val="1A1A2E"/>
                </a:solidFill>
                <a:latin typeface="QuattrocentoSans"/>
                <a:ea typeface="QuattrocentoSans"/>
              </a:rPr>
              <a:t>Evaluaciones experimentales:</a:t>
            </a:r>
          </a:p>
          <a:p>
            <a:pPr algn="l" lvl="0" indent="-182879" marL="228600">
              <a:lnSpc>
                <a:spcPct val="150000"/>
              </a:lnSpc>
              <a:buChar char="•"/>
            </a:pP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Pre-test y post-test con grupo de estudiantes</a:t>
            </a:r>
          </a:p>
          <a:p>
            <a:pPr algn="l" lvl="0" indent="-182879" marL="228600">
              <a:lnSpc>
                <a:spcPct val="150000"/>
              </a:lnSpc>
              <a:buChar char="•"/>
            </a:pPr>
            <a:r>
              <a:rPr sz="1200" noProof="1">
                <a:solidFill>
                  <a:srgbClr val="1A1A2E"/>
                </a:solidFill>
                <a:latin typeface="QuattrocentoSans"/>
                <a:ea typeface="QuattrocentoSans"/>
              </a:rPr>
              <a:t>Mejora en rendimiento o retención ≥ 15%</a:t>
            </a:r>
          </a:p>
        </p:txBody>
      </p:sp>
      <p:sp>
        <p:nvSpPr>
          <p:cNvPr id="16" name="dsl:page-number|s=$caption"/>
          <p:cNvSpPr txBox="1"/>
          <p:nvPr/>
        </p:nvSpPr>
        <p:spPr>
          <a:xfrm>
            <a:off x="11430000" y="657225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30000"/>
              </a:lnSpc>
            </a:pPr>
            <a:r>
              <a:rPr sz="1050" noProof="1">
                <a:solidFill>
                  <a:srgbClr val="6B7B8C"/>
                </a:solidFill>
                <a:latin typeface="QuattrocentoSans"/>
                <a:ea typeface="QuattrocentoSan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accent-line"/>
          <p:cNvSpPr/>
          <p:nvPr/>
        </p:nvSpPr>
        <p:spPr>
          <a:xfrm>
            <a:off x="5143500" y="1714500"/>
            <a:ext cx="190500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title"/>
          <p:cNvSpPr txBox="1"/>
          <p:nvPr/>
        </p:nvSpPr>
        <p:spPr>
          <a:xfrm>
            <a:off x="1333500" y="1905000"/>
            <a:ext cx="952500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2700" noProof="1">
                <a:solidFill>
                  <a:srgbClr val="FFFFFF"/>
                </a:solidFill>
                <a:latin typeface="QuattrocentoSans"/>
                <a:ea typeface="QuattrocentoSans"/>
              </a:rPr>
              <a:t>Conclusiones</a:t>
            </a:r>
          </a:p>
        </p:txBody>
      </p:sp>
      <p:sp>
        <p:nvSpPr>
          <p:cNvPr id="4" name="dsl:body"/>
          <p:cNvSpPr txBox="1"/>
          <p:nvPr/>
        </p:nvSpPr>
        <p:spPr>
          <a:xfrm>
            <a:off x="1333500" y="2857500"/>
            <a:ext cx="9525000" cy="2667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1350" noProof="1">
                <a:solidFill>
                  <a:srgbClr val="FFFFFF"/>
                </a:solidFill>
                <a:latin typeface="QuattrocentoSans"/>
                <a:ea typeface="QuattrocentoSans"/>
              </a:rPr>
              <a:t>SIMA integra transcripción, generación educativa, verificación externa y evaluación adaptativa en un flujo local trazable.</a:t>
            </a:r>
          </a:p>
          <a:p>
            <a:pPr algn="ctr">
              <a:lnSpc>
                <a:spcPct val="150000"/>
              </a:lnSpc>
              <a:spcBef>
                <a:spcPts val="750"/>
              </a:spcBef>
            </a:pPr>
            <a:r>
              <a:rPr sz="1350" noProof="1">
                <a:solidFill>
                  <a:srgbClr val="FFFFFF"/>
                </a:solidFill>
                <a:latin typeface="QuattrocentoSans"/>
                <a:ea typeface="QuattrocentoSans"/>
              </a:rPr>
              <a:t>La IA local protege el control del entorno y permite demostrar trazas completas del pipeline.</a:t>
            </a:r>
          </a:p>
          <a:p>
            <a:pPr algn="ctr">
              <a:lnSpc>
                <a:spcPct val="150000"/>
              </a:lnSpc>
              <a:spcBef>
                <a:spcPts val="750"/>
              </a:spcBef>
            </a:pPr>
            <a:r>
              <a:rPr sz="1350" noProof="1">
                <a:solidFill>
                  <a:srgbClr val="FFFFFF"/>
                </a:solidFill>
                <a:latin typeface="QuattrocentoSans"/>
                <a:ea typeface="QuattrocentoSans"/>
              </a:rPr>
              <a:t>La verificación web con consultas generadas por IA mejora la auditabilidad de respuestas correctas.</a:t>
            </a:r>
          </a:p>
          <a:p>
            <a:pPr algn="ctr">
              <a:lnSpc>
                <a:spcPct val="150000"/>
              </a:lnSpc>
              <a:spcBef>
                <a:spcPts val="750"/>
              </a:spcBef>
            </a:pPr>
            <a:r>
              <a:rPr sz="1350" noProof="1">
                <a:solidFill>
                  <a:srgbClr val="FFFFFF"/>
                </a:solidFill>
                <a:latin typeface="QuattrocentoSans"/>
                <a:ea typeface="QuattrocentoSans"/>
              </a:rPr>
              <a:t>El mapeo de theta a niveles pedagógicos hace comprensible el resultado final.</a:t>
            </a:r>
          </a:p>
          <a:p>
            <a:pPr algn="ctr">
              <a:lnSpc>
                <a:spcPct val="150000"/>
              </a:lnSpc>
              <a:spcBef>
                <a:spcPts val="750"/>
              </a:spcBef>
            </a:pPr>
            <a:r>
              <a:rPr sz="1350" noProof="1">
                <a:solidFill>
                  <a:srgbClr val="FFFFFF"/>
                </a:solidFill>
                <a:latin typeface="QuattrocentoSans"/>
                <a:ea typeface="QuattrocentoSans"/>
              </a:rPr>
              <a:t>La vista pipeline convierte el proceso interno en evidencia de desarrollo para sustentación.</a:t>
            </a:r>
          </a:p>
        </p:txBody>
      </p:sp>
      <p:sp>
        <p:nvSpPr>
          <p:cNvPr id="5" name="dsl:thanks"/>
          <p:cNvSpPr txBox="1"/>
          <p:nvPr/>
        </p:nvSpPr>
        <p:spPr>
          <a:xfrm>
            <a:off x="4191000" y="5715000"/>
            <a:ext cx="3810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800" noProof="1">
                <a:solidFill>
                  <a:srgbClr val="0D9488"/>
                </a:solidFill>
                <a:latin typeface="QuattrocentoSans"/>
                <a:ea typeface="QuattrocentoSans"/>
              </a:rP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slMetadata>
  <Colors>
    <Color name="primary" value="#0F2B46"/>
    <Color name="secondary" value="#6B7B8C"/>
    <Color name="accent" value="#0D9488"/>
    <Color name="background" value="#F8F9FA"/>
    <Color name="text" value="#1A1A2E"/>
    <Color name="cardBg" value="#FFFFFF"/>
    <Color name="lightGray" value="#F1F5F9"/>
    <Color name="borderGray" value="#E5E7EB"/>
    <Color name="white" value="#FFFFFF"/>
  </Colors>
  <TextStyles>
    <TextStyle name="title" font_size="40.0" color="$white" font_family="QuattrocentoSans" line_height="1.2"/>
    <TextStyle name="subtitle" font_size="20.0" color="$secondary" font_family="QuattrocentoSans" line_height="1.3"/>
    <TextStyle name="heading" font_size="28.0" color="$primary" font_family="QuattrocentoSans" line_height="1.2"/>
    <TextStyle name="body" font_size="18.0" color="$text" font_family="QuattrocentoSans" line_height="1.5"/>
    <TextStyle name="caption" font_size="14.0" color="$secondary" font_family="QuattrocentoSans" line_height="1.3"/>
    <TextStyle name="navText" font_size="14.0" color="$white" font_family="QuattrocentoSans" line_height="1.2"/>
  </TextStyles>
  <TableStyles>
    <TableStyle name="default" fontSize="16.0" fontFamily="QuattrocentoSans" headerFill="$primary" headerColor="$white" headerBold="true" bodyFill="$cardBg,$lightGray" bodyColor="$text" firstColumnBold="false">
      <Border style="solid" width="1.0" color="$borderGray"/>
    </TableStyle>
  </TableStyles>
</DslMetadata>
</file>

<file path=customXml/itemProps1.xml><?xml version="1.0" encoding="utf-8"?>
<ns0:datastoreItem xmlns:ns0="http://schemas.openxmlformats.org/officeDocument/2006/customXml" ns0:itemID="{94B8724F-3162-46C5-B0D4-710DA390B265}">
  <ns0:schemaRefs/>
</ns0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